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Canva Sans Bold" charset="1" panose="020B0803030501040103"/>
      <p:regular r:id="rId15"/>
    </p:embeddedFont>
    <p:embeddedFont>
      <p:font typeface="Times New Roman MT Bold" charset="1" panose="02030802070405020303"/>
      <p:regular r:id="rId16"/>
    </p:embeddedFont>
    <p:embeddedFont>
      <p:font typeface="Alata" charset="1" panose="00000500000000000000"/>
      <p:regular r:id="rId17"/>
    </p:embeddedFont>
    <p:embeddedFont>
      <p:font typeface="Lexend Deca" charset="1" panose="00000000000000000000"/>
      <p:regular r:id="rId18"/>
    </p:embeddedFont>
    <p:embeddedFont>
      <p:font typeface="Poppins Bold" charset="1" panose="00000800000000000000"/>
      <p:regular r:id="rId19"/>
    </p:embeddedFon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3"/>
    </p:embeddedFont>
    <p:embeddedFont>
      <p:font typeface="Poppins" charset="1" panose="00000500000000000000"/>
      <p:regular r:id="rId24"/>
    </p:embeddedFont>
    <p:embeddedFont>
      <p:font typeface="Times New Roman MT Ultra-Bold" charset="1" panose="020309020704050203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jpeg" Type="http://schemas.openxmlformats.org/officeDocument/2006/relationships/image"/><Relationship Id="rId11" Target="../media/image12.jpe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17" Target="../media/image18.png" Type="http://schemas.openxmlformats.org/officeDocument/2006/relationships/image"/><Relationship Id="rId18" Target="../media/image19.png" Type="http://schemas.openxmlformats.org/officeDocument/2006/relationships/image"/><Relationship Id="rId19" Target="../media/image20.png" Type="http://schemas.openxmlformats.org/officeDocument/2006/relationships/image"/><Relationship Id="rId2" Target="../media/image3.png" Type="http://schemas.openxmlformats.org/officeDocument/2006/relationships/image"/><Relationship Id="rId20" Target="../media/image21.png" Type="http://schemas.openxmlformats.org/officeDocument/2006/relationships/image"/><Relationship Id="rId21" Target="../media/image22.png" Type="http://schemas.openxmlformats.org/officeDocument/2006/relationships/image"/><Relationship Id="rId22" Target="../media/image23.png" Type="http://schemas.openxmlformats.org/officeDocument/2006/relationships/image"/><Relationship Id="rId23" Target="../media/image24.png" Type="http://schemas.openxmlformats.org/officeDocument/2006/relationships/image"/><Relationship Id="rId24" Target="../media/image25.png" Type="http://schemas.openxmlformats.org/officeDocument/2006/relationships/image"/><Relationship Id="rId25" Target="../media/image26.png" Type="http://schemas.openxmlformats.org/officeDocument/2006/relationships/image"/><Relationship Id="rId26" Target="../media/image27.png" Type="http://schemas.openxmlformats.org/officeDocument/2006/relationships/image"/><Relationship Id="rId27" Target="../media/image28.png" Type="http://schemas.openxmlformats.org/officeDocument/2006/relationships/image"/><Relationship Id="rId28" Target="../media/image29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jpeg" Type="http://schemas.openxmlformats.org/officeDocument/2006/relationships/image"/><Relationship Id="rId8" Target="../media/image9.png" Type="http://schemas.openxmlformats.org/officeDocument/2006/relationships/image"/><Relationship Id="rId9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37.png" Type="http://schemas.openxmlformats.org/officeDocument/2006/relationships/image"/><Relationship Id="rId13" Target="../media/image38.png" Type="http://schemas.openxmlformats.org/officeDocument/2006/relationships/image"/><Relationship Id="rId14" Target="../media/image39.png" Type="http://schemas.openxmlformats.org/officeDocument/2006/relationships/image"/><Relationship Id="rId15" Target="../media/image40.jpeg" Type="http://schemas.openxmlformats.org/officeDocument/2006/relationships/image"/><Relationship Id="rId16" Target="../media/image41.jpeg" Type="http://schemas.openxmlformats.org/officeDocument/2006/relationships/image"/><Relationship Id="rId17" Target="../media/image42.jpeg" Type="http://schemas.openxmlformats.org/officeDocument/2006/relationships/image"/><Relationship Id="rId18" Target="../media/image43.jpeg" Type="http://schemas.openxmlformats.org/officeDocument/2006/relationships/image"/><Relationship Id="rId19" Target="../media/image44.jpeg" Type="http://schemas.openxmlformats.org/officeDocument/2006/relationships/image"/><Relationship Id="rId2" Target="../media/image4.png" Type="http://schemas.openxmlformats.org/officeDocument/2006/relationships/image"/><Relationship Id="rId20" Target="../media/image45.jpeg" Type="http://schemas.openxmlformats.org/officeDocument/2006/relationships/image"/><Relationship Id="rId21" Target="../media/image46.jpeg" Type="http://schemas.openxmlformats.org/officeDocument/2006/relationships/image"/><Relationship Id="rId22" Target="../media/image47.jpeg" Type="http://schemas.openxmlformats.org/officeDocument/2006/relationships/image"/><Relationship Id="rId23" Target="../media/image48.jpeg" Type="http://schemas.openxmlformats.org/officeDocument/2006/relationships/image"/><Relationship Id="rId24" Target="../media/image49.jpeg" Type="http://schemas.openxmlformats.org/officeDocument/2006/relationships/image"/><Relationship Id="rId25" Target="../media/image50.jpeg" Type="http://schemas.openxmlformats.org/officeDocument/2006/relationships/image"/><Relationship Id="rId26" Target="../media/image51.png" Type="http://schemas.openxmlformats.org/officeDocument/2006/relationships/image"/><Relationship Id="rId27" Target="../media/image52.svg" Type="http://schemas.openxmlformats.org/officeDocument/2006/relationships/image"/><Relationship Id="rId28" Target="../media/image53.jpeg" Type="http://schemas.openxmlformats.org/officeDocument/2006/relationships/image"/><Relationship Id="rId29" Target="../media/image54.jpeg" Type="http://schemas.openxmlformats.org/officeDocument/2006/relationships/image"/><Relationship Id="rId3" Target="../media/image5.png" Type="http://schemas.openxmlformats.org/officeDocument/2006/relationships/image"/><Relationship Id="rId30" Target="../media/image55.jpeg" Type="http://schemas.openxmlformats.org/officeDocument/2006/relationships/image"/><Relationship Id="rId31" Target="../media/image56.jpeg" Type="http://schemas.openxmlformats.org/officeDocument/2006/relationships/image"/><Relationship Id="rId32" Target="../media/image57.jpeg" Type="http://schemas.openxmlformats.org/officeDocument/2006/relationships/image"/><Relationship Id="rId33" Target="../media/image58.jpeg" Type="http://schemas.openxmlformats.org/officeDocument/2006/relationships/image"/><Relationship Id="rId4" Target="../media/image3.pn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jpeg" Type="http://schemas.openxmlformats.org/officeDocument/2006/relationships/image"/><Relationship Id="rId11" Target="../media/image65.jpeg" Type="http://schemas.openxmlformats.org/officeDocument/2006/relationships/image"/><Relationship Id="rId12" Target="../media/image66.jpeg" Type="http://schemas.openxmlformats.org/officeDocument/2006/relationships/image"/><Relationship Id="rId13" Target="../media/image67.png" Type="http://schemas.openxmlformats.org/officeDocument/2006/relationships/image"/><Relationship Id="rId14" Target="../media/image68.jpe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59.jpeg" Type="http://schemas.openxmlformats.org/officeDocument/2006/relationships/image"/><Relationship Id="rId6" Target="../media/image60.jpeg" Type="http://schemas.openxmlformats.org/officeDocument/2006/relationships/image"/><Relationship Id="rId7" Target="../media/image61.jpeg" Type="http://schemas.openxmlformats.org/officeDocument/2006/relationships/image"/><Relationship Id="rId8" Target="../media/image62.png" Type="http://schemas.openxmlformats.org/officeDocument/2006/relationships/image"/><Relationship Id="rId9" Target="../media/image6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svg" Type="http://schemas.openxmlformats.org/officeDocument/2006/relationships/image"/><Relationship Id="rId12" Target="../media/image79.png" Type="http://schemas.openxmlformats.org/officeDocument/2006/relationships/image"/><Relationship Id="rId13" Target="../media/image80.svg" Type="http://schemas.openxmlformats.org/officeDocument/2006/relationships/image"/><Relationship Id="rId14" Target="../media/image81.png" Type="http://schemas.openxmlformats.org/officeDocument/2006/relationships/image"/><Relationship Id="rId15" Target="../media/image82.svg" Type="http://schemas.openxmlformats.org/officeDocument/2006/relationships/image"/><Relationship Id="rId16" Target="../media/image83.png" Type="http://schemas.openxmlformats.org/officeDocument/2006/relationships/image"/><Relationship Id="rId17" Target="../media/image84.png" Type="http://schemas.openxmlformats.org/officeDocument/2006/relationships/image"/><Relationship Id="rId18" Target="../media/image85.png" Type="http://schemas.openxmlformats.org/officeDocument/2006/relationships/image"/><Relationship Id="rId19" Target="../media/image86.png" Type="http://schemas.openxmlformats.org/officeDocument/2006/relationships/image"/><Relationship Id="rId2" Target="../media/image69.png" Type="http://schemas.openxmlformats.org/officeDocument/2006/relationships/image"/><Relationship Id="rId20" Target="../media/image3.png" Type="http://schemas.openxmlformats.org/officeDocument/2006/relationships/image"/><Relationship Id="rId21" Target="../media/image4.png" Type="http://schemas.openxmlformats.org/officeDocument/2006/relationships/image"/><Relationship Id="rId22" Target="../media/image5.png" Type="http://schemas.openxmlformats.org/officeDocument/2006/relationships/image"/><Relationship Id="rId3" Target="../media/image70.svg" Type="http://schemas.openxmlformats.org/officeDocument/2006/relationships/image"/><Relationship Id="rId4" Target="../media/image71.png" Type="http://schemas.openxmlformats.org/officeDocument/2006/relationships/image"/><Relationship Id="rId5" Target="../media/image72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media/image75.png" Type="http://schemas.openxmlformats.org/officeDocument/2006/relationships/image"/><Relationship Id="rId9" Target="../media/image7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pmc.ncbi.nlm.nih.gov/articles/PMC11217171/" TargetMode="External" Type="http://schemas.openxmlformats.org/officeDocument/2006/relationships/hyperlink"/><Relationship Id="rId11" Target="../media/image3.png" Type="http://schemas.openxmlformats.org/officeDocument/2006/relationships/image"/><Relationship Id="rId12" Target="../media/image4.png" Type="http://schemas.openxmlformats.org/officeDocument/2006/relationships/image"/><Relationship Id="rId13" Target="../media/image5.png" Type="http://schemas.openxmlformats.org/officeDocument/2006/relationships/image"/><Relationship Id="rId2" Target="../media/image87.png" Type="http://schemas.openxmlformats.org/officeDocument/2006/relationships/image"/><Relationship Id="rId3" Target="../media/image88.svg" Type="http://schemas.openxmlformats.org/officeDocument/2006/relationships/image"/><Relationship Id="rId4" Target="../media/image89.png" Type="http://schemas.openxmlformats.org/officeDocument/2006/relationships/image"/><Relationship Id="rId5" Target="../media/image90.svg" Type="http://schemas.openxmlformats.org/officeDocument/2006/relationships/image"/><Relationship Id="rId6" Target="../media/image91.png" Type="http://schemas.openxmlformats.org/officeDocument/2006/relationships/image"/><Relationship Id="rId7" Target="../media/image92.svg" Type="http://schemas.openxmlformats.org/officeDocument/2006/relationships/image"/><Relationship Id="rId8" Target="https://www.kaggle.com/datasets/datamunge/sign-language-mnist" TargetMode="External" Type="http://schemas.openxmlformats.org/officeDocument/2006/relationships/hyperlink"/><Relationship Id="rId9" Target="../media/image9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37901" y="2173422"/>
            <a:ext cx="6957907" cy="7732451"/>
          </a:xfrm>
          <a:custGeom>
            <a:avLst/>
            <a:gdLst/>
            <a:ahLst/>
            <a:cxnLst/>
            <a:rect r="r" b="b" t="t" l="l"/>
            <a:pathLst>
              <a:path h="7732451" w="6957907">
                <a:moveTo>
                  <a:pt x="0" y="0"/>
                </a:moveTo>
                <a:lnTo>
                  <a:pt x="6957908" y="0"/>
                </a:lnTo>
                <a:lnTo>
                  <a:pt x="6957908" y="7732450"/>
                </a:lnTo>
                <a:lnTo>
                  <a:pt x="0" y="7732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11371" y="224928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3350" y="848316"/>
            <a:ext cx="15544800" cy="3114675"/>
            <a:chOff x="0" y="0"/>
            <a:chExt cx="20726400" cy="4152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0726400" cy="4152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 VIDYUT-SRISHTI’25 HACKATHON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88369" y="3131820"/>
            <a:ext cx="14341722" cy="686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: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Title: 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Theme: Education 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Category: 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ID: 204_SRISHTI_Vidyut_25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portal): NeoHack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3078" y="-233504"/>
            <a:ext cx="2163644" cy="2163644"/>
            <a:chOff x="0" y="0"/>
            <a:chExt cx="2884858" cy="2884858"/>
          </a:xfrm>
        </p:grpSpPr>
        <p:sp>
          <p:nvSpPr>
            <p:cNvPr name="Freeform 9" id="9" descr="C:\Users\user\Downloads\WhatsApp Image 2025-09-25 at 09.00.18_33ed60e3.png"/>
            <p:cNvSpPr/>
            <p:nvPr/>
          </p:nvSpPr>
          <p:spPr>
            <a:xfrm flipH="false" flipV="false" rot="0">
              <a:off x="0" y="0"/>
              <a:ext cx="2884805" cy="2884805"/>
            </a:xfrm>
            <a:custGeom>
              <a:avLst/>
              <a:gdLst/>
              <a:ahLst/>
              <a:cxnLst/>
              <a:rect r="r" b="b" t="t" l="l"/>
              <a:pathLst>
                <a:path h="2884805" w="2884805">
                  <a:moveTo>
                    <a:pt x="0" y="0"/>
                  </a:moveTo>
                  <a:lnTo>
                    <a:pt x="2884805" y="0"/>
                  </a:lnTo>
                  <a:lnTo>
                    <a:pt x="2884805" y="2884805"/>
                  </a:lnTo>
                  <a:lnTo>
                    <a:pt x="0" y="2884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2816" y="-1433284"/>
            <a:ext cx="4563202" cy="4563202"/>
            <a:chOff x="0" y="0"/>
            <a:chExt cx="6084270" cy="6084270"/>
          </a:xfrm>
        </p:grpSpPr>
        <p:sp>
          <p:nvSpPr>
            <p:cNvPr name="Freeform 11" id="11" descr="C:\Users\user\Downloads\WhatsApp Image 2025-09-25 at 09.00.17_f153e206.png"/>
            <p:cNvSpPr/>
            <p:nvPr/>
          </p:nvSpPr>
          <p:spPr>
            <a:xfrm flipH="false" flipV="false" rot="0">
              <a:off x="0" y="0"/>
              <a:ext cx="6084316" cy="6084316"/>
            </a:xfrm>
            <a:custGeom>
              <a:avLst/>
              <a:gdLst/>
              <a:ahLst/>
              <a:cxnLst/>
              <a:rect r="r" b="b" t="t" l="l"/>
              <a:pathLst>
                <a:path h="6084316" w="6084316">
                  <a:moveTo>
                    <a:pt x="0" y="0"/>
                  </a:moveTo>
                  <a:lnTo>
                    <a:pt x="6084316" y="0"/>
                  </a:lnTo>
                  <a:lnTo>
                    <a:pt x="6084316" y="6084316"/>
                  </a:lnTo>
                  <a:lnTo>
                    <a:pt x="0" y="6084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356478" y="0"/>
            <a:ext cx="1057599" cy="1779138"/>
            <a:chOff x="0" y="0"/>
            <a:chExt cx="1410132" cy="2372184"/>
          </a:xfrm>
        </p:grpSpPr>
        <p:sp>
          <p:nvSpPr>
            <p:cNvPr name="Freeform 13" id="13" descr="C:\Users\user\Downloads\images (1) (1).png"/>
            <p:cNvSpPr/>
            <p:nvPr/>
          </p:nvSpPr>
          <p:spPr>
            <a:xfrm flipH="false" flipV="false" rot="0">
              <a:off x="0" y="0"/>
              <a:ext cx="1410081" cy="2372233"/>
            </a:xfrm>
            <a:custGeom>
              <a:avLst/>
              <a:gdLst/>
              <a:ahLst/>
              <a:cxnLst/>
              <a:rect r="r" b="b" t="t" l="l"/>
              <a:pathLst>
                <a:path h="2372233" w="1410081">
                  <a:moveTo>
                    <a:pt x="0" y="0"/>
                  </a:moveTo>
                  <a:lnTo>
                    <a:pt x="1410081" y="0"/>
                  </a:lnTo>
                  <a:lnTo>
                    <a:pt x="1410081" y="2372233"/>
                  </a:lnTo>
                  <a:lnTo>
                    <a:pt x="0" y="2372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757302" y="5009169"/>
            <a:ext cx="11582083" cy="1144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AI-Enabled Sign Language Learning and Multilingual Converter </a:t>
            </a: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 for the Speech and Hearing Impaired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7796" y="28764"/>
            <a:ext cx="1570204" cy="1062380"/>
            <a:chOff x="0" y="0"/>
            <a:chExt cx="2884858" cy="1951858"/>
          </a:xfrm>
        </p:grpSpPr>
        <p:sp>
          <p:nvSpPr>
            <p:cNvPr name="Freeform 3" id="3" descr="C:\Users\user\Downloads\WhatsApp Image 2025-09-25 at 09.00.18_33ed60e3.png"/>
            <p:cNvSpPr/>
            <p:nvPr/>
          </p:nvSpPr>
          <p:spPr>
            <a:xfrm flipH="false" flipV="false" rot="0">
              <a:off x="0" y="0"/>
              <a:ext cx="2884805" cy="1951822"/>
            </a:xfrm>
            <a:custGeom>
              <a:avLst/>
              <a:gdLst/>
              <a:ahLst/>
              <a:cxnLst/>
              <a:rect r="r" b="b" t="t" l="l"/>
              <a:pathLst>
                <a:path h="1951822" w="2884805">
                  <a:moveTo>
                    <a:pt x="0" y="0"/>
                  </a:moveTo>
                  <a:lnTo>
                    <a:pt x="2884805" y="0"/>
                  </a:lnTo>
                  <a:lnTo>
                    <a:pt x="2884805" y="1951822"/>
                  </a:lnTo>
                  <a:lnTo>
                    <a:pt x="0" y="1951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00" r="-1" b="-2390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040" y="83313"/>
            <a:ext cx="2846335" cy="476640"/>
            <a:chOff x="0" y="0"/>
            <a:chExt cx="6084270" cy="1018857"/>
          </a:xfrm>
        </p:grpSpPr>
        <p:sp>
          <p:nvSpPr>
            <p:cNvPr name="Freeform 5" id="5" descr="C:\Users\user\Downloads\WhatsApp Image 2025-09-25 at 09.00.17_f153e206.png"/>
            <p:cNvSpPr/>
            <p:nvPr/>
          </p:nvSpPr>
          <p:spPr>
            <a:xfrm flipH="false" flipV="false" rot="0">
              <a:off x="0" y="0"/>
              <a:ext cx="6084316" cy="1018903"/>
            </a:xfrm>
            <a:custGeom>
              <a:avLst/>
              <a:gdLst/>
              <a:ahLst/>
              <a:cxnLst/>
              <a:rect r="r" b="b" t="t" l="l"/>
              <a:pathLst>
                <a:path h="1018903" w="6084316">
                  <a:moveTo>
                    <a:pt x="0" y="0"/>
                  </a:moveTo>
                  <a:lnTo>
                    <a:pt x="6084316" y="0"/>
                  </a:lnTo>
                  <a:lnTo>
                    <a:pt x="6084316" y="1018903"/>
                  </a:lnTo>
                  <a:lnTo>
                    <a:pt x="0" y="1018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8576" r="0" b="-24857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356478" y="-61756"/>
            <a:ext cx="820994" cy="1199847"/>
            <a:chOff x="0" y="0"/>
            <a:chExt cx="1410132" cy="2060846"/>
          </a:xfrm>
        </p:grpSpPr>
        <p:sp>
          <p:nvSpPr>
            <p:cNvPr name="Freeform 7" id="7" descr="C:\Users\user\Downloads\images (1) (1).png"/>
            <p:cNvSpPr/>
            <p:nvPr/>
          </p:nvSpPr>
          <p:spPr>
            <a:xfrm flipH="false" flipV="false" rot="0">
              <a:off x="0" y="0"/>
              <a:ext cx="1410081" cy="2060895"/>
            </a:xfrm>
            <a:custGeom>
              <a:avLst/>
              <a:gdLst/>
              <a:ahLst/>
              <a:cxnLst/>
              <a:rect r="r" b="b" t="t" l="l"/>
              <a:pathLst>
                <a:path h="2060895" w="1410081">
                  <a:moveTo>
                    <a:pt x="0" y="0"/>
                  </a:moveTo>
                  <a:lnTo>
                    <a:pt x="1410081" y="0"/>
                  </a:lnTo>
                  <a:lnTo>
                    <a:pt x="1410081" y="2060895"/>
                  </a:lnTo>
                  <a:lnTo>
                    <a:pt x="0" y="2060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553" r="-3" b="-755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66973" y="2593272"/>
            <a:ext cx="597168" cy="806983"/>
          </a:xfrm>
          <a:custGeom>
            <a:avLst/>
            <a:gdLst/>
            <a:ahLst/>
            <a:cxnLst/>
            <a:rect r="r" b="b" t="t" l="l"/>
            <a:pathLst>
              <a:path h="806983" w="597168">
                <a:moveTo>
                  <a:pt x="0" y="0"/>
                </a:moveTo>
                <a:lnTo>
                  <a:pt x="597167" y="0"/>
                </a:lnTo>
                <a:lnTo>
                  <a:pt x="597167" y="806984"/>
                </a:lnTo>
                <a:lnTo>
                  <a:pt x="0" y="8069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2056" y="3831112"/>
            <a:ext cx="622455" cy="622455"/>
          </a:xfrm>
          <a:custGeom>
            <a:avLst/>
            <a:gdLst/>
            <a:ahLst/>
            <a:cxnLst/>
            <a:rect r="r" b="b" t="t" l="l"/>
            <a:pathLst>
              <a:path h="622455" w="622455">
                <a:moveTo>
                  <a:pt x="0" y="0"/>
                </a:moveTo>
                <a:lnTo>
                  <a:pt x="622455" y="0"/>
                </a:lnTo>
                <a:lnTo>
                  <a:pt x="622455" y="622455"/>
                </a:lnTo>
                <a:lnTo>
                  <a:pt x="0" y="6224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2531" y="4853617"/>
            <a:ext cx="741610" cy="672084"/>
          </a:xfrm>
          <a:custGeom>
            <a:avLst/>
            <a:gdLst/>
            <a:ahLst/>
            <a:cxnLst/>
            <a:rect r="r" b="b" t="t" l="l"/>
            <a:pathLst>
              <a:path h="672084" w="741610">
                <a:moveTo>
                  <a:pt x="0" y="0"/>
                </a:moveTo>
                <a:lnTo>
                  <a:pt x="741609" y="0"/>
                </a:lnTo>
                <a:lnTo>
                  <a:pt x="741609" y="672084"/>
                </a:lnTo>
                <a:lnTo>
                  <a:pt x="0" y="6720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317" t="-28011" r="-20380" b="-2172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2531" y="5906989"/>
            <a:ext cx="730116" cy="779259"/>
          </a:xfrm>
          <a:custGeom>
            <a:avLst/>
            <a:gdLst/>
            <a:ahLst/>
            <a:cxnLst/>
            <a:rect r="r" b="b" t="t" l="l"/>
            <a:pathLst>
              <a:path h="779259" w="730116">
                <a:moveTo>
                  <a:pt x="0" y="0"/>
                </a:moveTo>
                <a:lnTo>
                  <a:pt x="730116" y="0"/>
                </a:lnTo>
                <a:lnTo>
                  <a:pt x="730116" y="779259"/>
                </a:lnTo>
                <a:lnTo>
                  <a:pt x="0" y="7792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3320" t="-22144" r="-27551" b="-30522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1478" y="7777699"/>
            <a:ext cx="969543" cy="992627"/>
          </a:xfrm>
          <a:custGeom>
            <a:avLst/>
            <a:gdLst/>
            <a:ahLst/>
            <a:cxnLst/>
            <a:rect r="r" b="b" t="t" l="l"/>
            <a:pathLst>
              <a:path h="992627" w="969543">
                <a:moveTo>
                  <a:pt x="0" y="0"/>
                </a:moveTo>
                <a:lnTo>
                  <a:pt x="969542" y="0"/>
                </a:lnTo>
                <a:lnTo>
                  <a:pt x="969542" y="992627"/>
                </a:lnTo>
                <a:lnTo>
                  <a:pt x="0" y="992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90179" t="-488356" r="-409895" b="-9096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743121" y="8577637"/>
            <a:ext cx="890918" cy="981828"/>
          </a:xfrm>
          <a:custGeom>
            <a:avLst/>
            <a:gdLst/>
            <a:ahLst/>
            <a:cxnLst/>
            <a:rect r="r" b="b" t="t" l="l"/>
            <a:pathLst>
              <a:path h="981828" w="890918">
                <a:moveTo>
                  <a:pt x="0" y="0"/>
                </a:moveTo>
                <a:lnTo>
                  <a:pt x="890919" y="0"/>
                </a:lnTo>
                <a:lnTo>
                  <a:pt x="890919" y="981828"/>
                </a:lnTo>
                <a:lnTo>
                  <a:pt x="0" y="9818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16896" t="-469019" r="-207151" b="-8369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093245" y="6196302"/>
            <a:ext cx="1242389" cy="957308"/>
          </a:xfrm>
          <a:custGeom>
            <a:avLst/>
            <a:gdLst/>
            <a:ahLst/>
            <a:cxnLst/>
            <a:rect r="r" b="b" t="t" l="l"/>
            <a:pathLst>
              <a:path h="957308" w="1242389">
                <a:moveTo>
                  <a:pt x="0" y="0"/>
                </a:moveTo>
                <a:lnTo>
                  <a:pt x="1242389" y="0"/>
                </a:lnTo>
                <a:lnTo>
                  <a:pt x="1242389" y="957308"/>
                </a:lnTo>
                <a:lnTo>
                  <a:pt x="0" y="9573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8505" t="-20951" r="-8915" b="-31437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953324" y="7537540"/>
            <a:ext cx="780574" cy="616021"/>
          </a:xfrm>
          <a:custGeom>
            <a:avLst/>
            <a:gdLst/>
            <a:ahLst/>
            <a:cxnLst/>
            <a:rect r="r" b="b" t="t" l="l"/>
            <a:pathLst>
              <a:path h="616021" w="780574">
                <a:moveTo>
                  <a:pt x="0" y="0"/>
                </a:moveTo>
                <a:lnTo>
                  <a:pt x="780574" y="0"/>
                </a:lnTo>
                <a:lnTo>
                  <a:pt x="780574" y="616020"/>
                </a:lnTo>
                <a:lnTo>
                  <a:pt x="0" y="6160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3322" t="-116743" r="-179431" b="-41811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720094" y="4853617"/>
            <a:ext cx="847917" cy="753943"/>
          </a:xfrm>
          <a:custGeom>
            <a:avLst/>
            <a:gdLst/>
            <a:ahLst/>
            <a:cxnLst/>
            <a:rect r="r" b="b" t="t" l="l"/>
            <a:pathLst>
              <a:path h="753943" w="847917">
                <a:moveTo>
                  <a:pt x="0" y="0"/>
                </a:moveTo>
                <a:lnTo>
                  <a:pt x="847917" y="0"/>
                </a:lnTo>
                <a:lnTo>
                  <a:pt x="847917" y="753943"/>
                </a:lnTo>
                <a:lnTo>
                  <a:pt x="0" y="75394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31941" t="-161659" r="-310896" b="-145007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567322" y="8468073"/>
            <a:ext cx="1051846" cy="829631"/>
          </a:xfrm>
          <a:custGeom>
            <a:avLst/>
            <a:gdLst/>
            <a:ahLst/>
            <a:cxnLst/>
            <a:rect r="r" b="b" t="t" l="l"/>
            <a:pathLst>
              <a:path h="829631" w="1051846">
                <a:moveTo>
                  <a:pt x="0" y="0"/>
                </a:moveTo>
                <a:lnTo>
                  <a:pt x="1051846" y="0"/>
                </a:lnTo>
                <a:lnTo>
                  <a:pt x="1051846" y="829630"/>
                </a:lnTo>
                <a:lnTo>
                  <a:pt x="0" y="82963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21116" t="-119205" r="-222682" b="-97296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87795" y="1924220"/>
            <a:ext cx="4113667" cy="444540"/>
            <a:chOff x="0" y="0"/>
            <a:chExt cx="1083435" cy="117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3435" cy="117080"/>
            </a:xfrm>
            <a:custGeom>
              <a:avLst/>
              <a:gdLst/>
              <a:ahLst/>
              <a:cxnLst/>
              <a:rect r="r" b="b" t="t" l="l"/>
              <a:pathLst>
                <a:path h="117080" w="1083435">
                  <a:moveTo>
                    <a:pt x="28230" y="0"/>
                  </a:moveTo>
                  <a:lnTo>
                    <a:pt x="1055205" y="0"/>
                  </a:lnTo>
                  <a:cubicBezTo>
                    <a:pt x="1062692" y="0"/>
                    <a:pt x="1069872" y="2974"/>
                    <a:pt x="1075167" y="8268"/>
                  </a:cubicBezTo>
                  <a:cubicBezTo>
                    <a:pt x="1080461" y="13563"/>
                    <a:pt x="1083435" y="20743"/>
                    <a:pt x="1083435" y="28230"/>
                  </a:cubicBezTo>
                  <a:lnTo>
                    <a:pt x="1083435" y="88850"/>
                  </a:lnTo>
                  <a:cubicBezTo>
                    <a:pt x="1083435" y="96337"/>
                    <a:pt x="1080461" y="103518"/>
                    <a:pt x="1075167" y="108812"/>
                  </a:cubicBezTo>
                  <a:cubicBezTo>
                    <a:pt x="1069872" y="114106"/>
                    <a:pt x="1062692" y="117080"/>
                    <a:pt x="1055205" y="117080"/>
                  </a:cubicBezTo>
                  <a:lnTo>
                    <a:pt x="28230" y="117080"/>
                  </a:lnTo>
                  <a:cubicBezTo>
                    <a:pt x="20743" y="117080"/>
                    <a:pt x="13563" y="114106"/>
                    <a:pt x="8268" y="108812"/>
                  </a:cubicBezTo>
                  <a:cubicBezTo>
                    <a:pt x="2974" y="103518"/>
                    <a:pt x="0" y="96337"/>
                    <a:pt x="0" y="88850"/>
                  </a:cubicBezTo>
                  <a:lnTo>
                    <a:pt x="0" y="28230"/>
                  </a:lnTo>
                  <a:cubicBezTo>
                    <a:pt x="0" y="20743"/>
                    <a:pt x="2974" y="13563"/>
                    <a:pt x="8268" y="8268"/>
                  </a:cubicBezTo>
                  <a:cubicBezTo>
                    <a:pt x="13563" y="2974"/>
                    <a:pt x="20743" y="0"/>
                    <a:pt x="2823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83435" cy="155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5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60047" y="6999463"/>
            <a:ext cx="2602124" cy="455949"/>
            <a:chOff x="0" y="0"/>
            <a:chExt cx="685333" cy="12008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5333" cy="120085"/>
            </a:xfrm>
            <a:custGeom>
              <a:avLst/>
              <a:gdLst/>
              <a:ahLst/>
              <a:cxnLst/>
              <a:rect r="r" b="b" t="t" l="l"/>
              <a:pathLst>
                <a:path h="120085" w="685333">
                  <a:moveTo>
                    <a:pt x="44628" y="0"/>
                  </a:moveTo>
                  <a:lnTo>
                    <a:pt x="640705" y="0"/>
                  </a:lnTo>
                  <a:cubicBezTo>
                    <a:pt x="665352" y="0"/>
                    <a:pt x="685333" y="19981"/>
                    <a:pt x="685333" y="44628"/>
                  </a:cubicBezTo>
                  <a:lnTo>
                    <a:pt x="685333" y="75457"/>
                  </a:lnTo>
                  <a:cubicBezTo>
                    <a:pt x="685333" y="100105"/>
                    <a:pt x="665352" y="120085"/>
                    <a:pt x="640705" y="120085"/>
                  </a:cubicBezTo>
                  <a:lnTo>
                    <a:pt x="44628" y="120085"/>
                  </a:lnTo>
                  <a:cubicBezTo>
                    <a:pt x="19981" y="120085"/>
                    <a:pt x="0" y="100105"/>
                    <a:pt x="0" y="75457"/>
                  </a:cubicBezTo>
                  <a:lnTo>
                    <a:pt x="0" y="44628"/>
                  </a:lnTo>
                  <a:cubicBezTo>
                    <a:pt x="0" y="19981"/>
                    <a:pt x="19981" y="0"/>
                    <a:pt x="44628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85333" cy="158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858081" y="1869611"/>
            <a:ext cx="2619732" cy="455949"/>
            <a:chOff x="0" y="0"/>
            <a:chExt cx="689971" cy="1200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9971" cy="120085"/>
            </a:xfrm>
            <a:custGeom>
              <a:avLst/>
              <a:gdLst/>
              <a:ahLst/>
              <a:cxnLst/>
              <a:rect r="r" b="b" t="t" l="l"/>
              <a:pathLst>
                <a:path h="120085" w="689971">
                  <a:moveTo>
                    <a:pt x="44328" y="0"/>
                  </a:moveTo>
                  <a:lnTo>
                    <a:pt x="645642" y="0"/>
                  </a:lnTo>
                  <a:cubicBezTo>
                    <a:pt x="670124" y="0"/>
                    <a:pt x="689971" y="19847"/>
                    <a:pt x="689971" y="44328"/>
                  </a:cubicBezTo>
                  <a:lnTo>
                    <a:pt x="689971" y="75757"/>
                  </a:lnTo>
                  <a:cubicBezTo>
                    <a:pt x="689971" y="100239"/>
                    <a:pt x="670124" y="120085"/>
                    <a:pt x="645642" y="120085"/>
                  </a:cubicBezTo>
                  <a:lnTo>
                    <a:pt x="44328" y="120085"/>
                  </a:lnTo>
                  <a:cubicBezTo>
                    <a:pt x="19847" y="120085"/>
                    <a:pt x="0" y="100239"/>
                    <a:pt x="0" y="75757"/>
                  </a:cubicBezTo>
                  <a:lnTo>
                    <a:pt x="0" y="44328"/>
                  </a:lnTo>
                  <a:cubicBezTo>
                    <a:pt x="0" y="19847"/>
                    <a:pt x="19847" y="0"/>
                    <a:pt x="44328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89971" cy="158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5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061715" y="2302150"/>
            <a:ext cx="885863" cy="1088873"/>
          </a:xfrm>
          <a:custGeom>
            <a:avLst/>
            <a:gdLst/>
            <a:ahLst/>
            <a:cxnLst/>
            <a:rect r="r" b="b" t="t" l="l"/>
            <a:pathLst>
              <a:path h="1088873" w="885863">
                <a:moveTo>
                  <a:pt x="0" y="0"/>
                </a:moveTo>
                <a:lnTo>
                  <a:pt x="885863" y="0"/>
                </a:lnTo>
                <a:lnTo>
                  <a:pt x="885863" y="1088873"/>
                </a:lnTo>
                <a:lnTo>
                  <a:pt x="0" y="108887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15778" t="-123258" r="-383278" b="-96648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708336" y="3831112"/>
            <a:ext cx="907709" cy="920405"/>
          </a:xfrm>
          <a:custGeom>
            <a:avLst/>
            <a:gdLst/>
            <a:ahLst/>
            <a:cxnLst/>
            <a:rect r="r" b="b" t="t" l="l"/>
            <a:pathLst>
              <a:path h="920405" w="907709">
                <a:moveTo>
                  <a:pt x="0" y="0"/>
                </a:moveTo>
                <a:lnTo>
                  <a:pt x="907710" y="0"/>
                </a:lnTo>
                <a:lnTo>
                  <a:pt x="907710" y="920404"/>
                </a:lnTo>
                <a:lnTo>
                  <a:pt x="0" y="9204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86117" t="-91341" r="-183180" b="-68996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758100" y="5726701"/>
            <a:ext cx="857946" cy="886930"/>
          </a:xfrm>
          <a:custGeom>
            <a:avLst/>
            <a:gdLst/>
            <a:ahLst/>
            <a:cxnLst/>
            <a:rect r="r" b="b" t="t" l="l"/>
            <a:pathLst>
              <a:path h="886930" w="857946">
                <a:moveTo>
                  <a:pt x="0" y="0"/>
                </a:moveTo>
                <a:lnTo>
                  <a:pt x="857946" y="0"/>
                </a:lnTo>
                <a:lnTo>
                  <a:pt x="857946" y="886930"/>
                </a:lnTo>
                <a:lnTo>
                  <a:pt x="0" y="88693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07532" t="-84604" r="-145910" b="-62121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199970" y="6665431"/>
            <a:ext cx="1035652" cy="1021465"/>
          </a:xfrm>
          <a:custGeom>
            <a:avLst/>
            <a:gdLst/>
            <a:ahLst/>
            <a:cxnLst/>
            <a:rect r="r" b="b" t="t" l="l"/>
            <a:pathLst>
              <a:path h="1021465" w="1035652">
                <a:moveTo>
                  <a:pt x="0" y="0"/>
                </a:moveTo>
                <a:lnTo>
                  <a:pt x="1035652" y="0"/>
                </a:lnTo>
                <a:lnTo>
                  <a:pt x="1035652" y="1021464"/>
                </a:lnTo>
                <a:lnTo>
                  <a:pt x="0" y="1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181607" t="-93364" r="-178046" b="-68781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4458420" y="1869611"/>
            <a:ext cx="1798150" cy="432539"/>
            <a:chOff x="0" y="0"/>
            <a:chExt cx="473587" cy="113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3587" cy="113920"/>
            </a:xfrm>
            <a:custGeom>
              <a:avLst/>
              <a:gdLst/>
              <a:ahLst/>
              <a:cxnLst/>
              <a:rect r="r" b="b" t="t" l="l"/>
              <a:pathLst>
                <a:path h="113920" w="473587">
                  <a:moveTo>
                    <a:pt x="56960" y="0"/>
                  </a:moveTo>
                  <a:lnTo>
                    <a:pt x="416627" y="0"/>
                  </a:lnTo>
                  <a:cubicBezTo>
                    <a:pt x="448085" y="0"/>
                    <a:pt x="473587" y="25502"/>
                    <a:pt x="473587" y="56960"/>
                  </a:cubicBezTo>
                  <a:lnTo>
                    <a:pt x="473587" y="56960"/>
                  </a:lnTo>
                  <a:cubicBezTo>
                    <a:pt x="473587" y="88418"/>
                    <a:pt x="448085" y="113920"/>
                    <a:pt x="416627" y="113920"/>
                  </a:cubicBezTo>
                  <a:lnTo>
                    <a:pt x="56960" y="113920"/>
                  </a:lnTo>
                  <a:cubicBezTo>
                    <a:pt x="25502" y="113920"/>
                    <a:pt x="0" y="88418"/>
                    <a:pt x="0" y="56960"/>
                  </a:cubicBezTo>
                  <a:lnTo>
                    <a:pt x="0" y="56960"/>
                  </a:lnTo>
                  <a:cubicBezTo>
                    <a:pt x="0" y="25502"/>
                    <a:pt x="25502" y="0"/>
                    <a:pt x="5696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73587" cy="152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5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519474" y="5283183"/>
            <a:ext cx="1798150" cy="432539"/>
            <a:chOff x="0" y="0"/>
            <a:chExt cx="473587" cy="113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3587" cy="113920"/>
            </a:xfrm>
            <a:custGeom>
              <a:avLst/>
              <a:gdLst/>
              <a:ahLst/>
              <a:cxnLst/>
              <a:rect r="r" b="b" t="t" l="l"/>
              <a:pathLst>
                <a:path h="113920" w="473587">
                  <a:moveTo>
                    <a:pt x="56960" y="0"/>
                  </a:moveTo>
                  <a:lnTo>
                    <a:pt x="416627" y="0"/>
                  </a:lnTo>
                  <a:cubicBezTo>
                    <a:pt x="448085" y="0"/>
                    <a:pt x="473587" y="25502"/>
                    <a:pt x="473587" y="56960"/>
                  </a:cubicBezTo>
                  <a:lnTo>
                    <a:pt x="473587" y="56960"/>
                  </a:lnTo>
                  <a:cubicBezTo>
                    <a:pt x="473587" y="88418"/>
                    <a:pt x="448085" y="113920"/>
                    <a:pt x="416627" y="113920"/>
                  </a:cubicBezTo>
                  <a:lnTo>
                    <a:pt x="56960" y="113920"/>
                  </a:lnTo>
                  <a:cubicBezTo>
                    <a:pt x="25502" y="113920"/>
                    <a:pt x="0" y="88418"/>
                    <a:pt x="0" y="56960"/>
                  </a:cubicBezTo>
                  <a:lnTo>
                    <a:pt x="0" y="56960"/>
                  </a:lnTo>
                  <a:cubicBezTo>
                    <a:pt x="0" y="25502"/>
                    <a:pt x="25502" y="0"/>
                    <a:pt x="5696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73587" cy="152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5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7159364" y="1695991"/>
            <a:ext cx="574534" cy="648271"/>
          </a:xfrm>
          <a:custGeom>
            <a:avLst/>
            <a:gdLst/>
            <a:ahLst/>
            <a:cxnLst/>
            <a:rect r="r" b="b" t="t" l="l"/>
            <a:pathLst>
              <a:path h="648271" w="574534">
                <a:moveTo>
                  <a:pt x="0" y="0"/>
                </a:moveTo>
                <a:lnTo>
                  <a:pt x="574534" y="0"/>
                </a:lnTo>
                <a:lnTo>
                  <a:pt x="574534" y="648271"/>
                </a:lnTo>
                <a:lnTo>
                  <a:pt x="0" y="64827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4160" t="0" r="-416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3690316" y="1667176"/>
            <a:ext cx="673446" cy="723992"/>
          </a:xfrm>
          <a:custGeom>
            <a:avLst/>
            <a:gdLst/>
            <a:ahLst/>
            <a:cxnLst/>
            <a:rect r="r" b="b" t="t" l="l"/>
            <a:pathLst>
              <a:path h="723992" w="673446">
                <a:moveTo>
                  <a:pt x="0" y="0"/>
                </a:moveTo>
                <a:lnTo>
                  <a:pt x="673446" y="0"/>
                </a:lnTo>
                <a:lnTo>
                  <a:pt x="673446" y="723992"/>
                </a:lnTo>
                <a:lnTo>
                  <a:pt x="0" y="72399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44542" t="-34265" r="-41184" b="-38494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375933" y="1510551"/>
            <a:ext cx="964237" cy="977946"/>
          </a:xfrm>
          <a:custGeom>
            <a:avLst/>
            <a:gdLst/>
            <a:ahLst/>
            <a:cxnLst/>
            <a:rect r="r" b="b" t="t" l="l"/>
            <a:pathLst>
              <a:path h="977946" w="964237">
                <a:moveTo>
                  <a:pt x="0" y="0"/>
                </a:moveTo>
                <a:lnTo>
                  <a:pt x="964237" y="0"/>
                </a:lnTo>
                <a:lnTo>
                  <a:pt x="964237" y="977946"/>
                </a:lnTo>
                <a:lnTo>
                  <a:pt x="0" y="97794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true" flipV="false" rot="0">
            <a:off x="1378270" y="6845699"/>
            <a:ext cx="763477" cy="763477"/>
          </a:xfrm>
          <a:custGeom>
            <a:avLst/>
            <a:gdLst/>
            <a:ahLst/>
            <a:cxnLst/>
            <a:rect r="r" b="b" t="t" l="l"/>
            <a:pathLst>
              <a:path h="763477" w="763477">
                <a:moveTo>
                  <a:pt x="763477" y="0"/>
                </a:moveTo>
                <a:lnTo>
                  <a:pt x="0" y="0"/>
                </a:lnTo>
                <a:lnTo>
                  <a:pt x="0" y="763477"/>
                </a:lnTo>
                <a:lnTo>
                  <a:pt x="763477" y="763477"/>
                </a:lnTo>
                <a:lnTo>
                  <a:pt x="763477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944493" y="5065086"/>
            <a:ext cx="685327" cy="740707"/>
          </a:xfrm>
          <a:custGeom>
            <a:avLst/>
            <a:gdLst/>
            <a:ahLst/>
            <a:cxnLst/>
            <a:rect r="r" b="b" t="t" l="l"/>
            <a:pathLst>
              <a:path h="740707" w="685327">
                <a:moveTo>
                  <a:pt x="0" y="0"/>
                </a:moveTo>
                <a:lnTo>
                  <a:pt x="685327" y="0"/>
                </a:lnTo>
                <a:lnTo>
                  <a:pt x="685327" y="740707"/>
                </a:lnTo>
                <a:lnTo>
                  <a:pt x="0" y="74070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2716068" y="7672657"/>
            <a:ext cx="1160439" cy="1043447"/>
          </a:xfrm>
          <a:custGeom>
            <a:avLst/>
            <a:gdLst/>
            <a:ahLst/>
            <a:cxnLst/>
            <a:rect r="r" b="b" t="t" l="l"/>
            <a:pathLst>
              <a:path h="1043447" w="1160439">
                <a:moveTo>
                  <a:pt x="0" y="0"/>
                </a:moveTo>
                <a:lnTo>
                  <a:pt x="1160440" y="0"/>
                </a:lnTo>
                <a:lnTo>
                  <a:pt x="1160440" y="1043446"/>
                </a:lnTo>
                <a:lnTo>
                  <a:pt x="0" y="104344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-20067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6407120" y="8695840"/>
            <a:ext cx="1188222" cy="1188222"/>
          </a:xfrm>
          <a:custGeom>
            <a:avLst/>
            <a:gdLst/>
            <a:ahLst/>
            <a:cxnLst/>
            <a:rect r="r" b="b" t="t" l="l"/>
            <a:pathLst>
              <a:path h="1188222" w="1188222">
                <a:moveTo>
                  <a:pt x="0" y="0"/>
                </a:moveTo>
                <a:lnTo>
                  <a:pt x="1188222" y="0"/>
                </a:lnTo>
                <a:lnTo>
                  <a:pt x="1188222" y="1188222"/>
                </a:lnTo>
                <a:lnTo>
                  <a:pt x="0" y="118822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0501035" y="3452215"/>
            <a:ext cx="786146" cy="734735"/>
          </a:xfrm>
          <a:custGeom>
            <a:avLst/>
            <a:gdLst/>
            <a:ahLst/>
            <a:cxnLst/>
            <a:rect r="r" b="b" t="t" l="l"/>
            <a:pathLst>
              <a:path h="734735" w="786146">
                <a:moveTo>
                  <a:pt x="0" y="0"/>
                </a:moveTo>
                <a:lnTo>
                  <a:pt x="786147" y="0"/>
                </a:lnTo>
                <a:lnTo>
                  <a:pt x="786147" y="734735"/>
                </a:lnTo>
                <a:lnTo>
                  <a:pt x="0" y="73473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-3498" r="0" b="-3498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-118961" y="1126156"/>
            <a:ext cx="18535714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IDEA TITLE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AI-Enabled Sign Language Learning &amp;Multilingual Converter App for the Speech &amp; Hearing Impaired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99207" y="1919795"/>
            <a:ext cx="3890844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4AAD"/>
                </a:solidFill>
                <a:latin typeface="Alata"/>
                <a:ea typeface="Alata"/>
                <a:cs typeface="Alata"/>
                <a:sym typeface="Alata"/>
              </a:rPr>
              <a:t>Problem Statement Analysis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90505" y="2592363"/>
            <a:ext cx="4894506" cy="71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Absence of localized ISL-Regional</a:t>
            </a:r>
          </a:p>
          <a:p>
            <a:pPr algn="just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learning content.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90505" y="3714808"/>
            <a:ext cx="4894506" cy="71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Fragmented tools — separate apps for speech,text, or sign conversion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66304" y="4685682"/>
            <a:ext cx="5011817" cy="71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Lack of data analytics for teachers and </a:t>
            </a:r>
          </a:p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parents to monitor progress.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13374" y="5936197"/>
            <a:ext cx="4832271" cy="71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Limited awareness and inclusion tools </a:t>
            </a:r>
          </a:p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for HR and institutions.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778170" y="7899043"/>
            <a:ext cx="3332917" cy="71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Real-time conversion tools</a:t>
            </a:r>
          </a:p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— Speech ↔ Sign ↔ Text.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61472" y="9103701"/>
            <a:ext cx="5046702" cy="71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Data analytics dashboards for </a:t>
            </a:r>
          </a:p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teachers, parents, and HR professionals.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594983" y="2958664"/>
            <a:ext cx="5740651" cy="71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Animated ISL tutorials + handwriting pad for practice.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622310" y="4104239"/>
            <a:ext cx="5893596" cy="71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Learn and practice vocabulary using Regional </a:t>
            </a:r>
          </a:p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&amp; ISL.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714490" y="5559935"/>
            <a:ext cx="5361929" cy="71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Step-by-step lessons, visual explanations,</a:t>
            </a:r>
          </a:p>
          <a:p>
            <a:pPr algn="just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and assessments.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650885" y="6695773"/>
            <a:ext cx="5489139" cy="71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Regional </a:t>
            </a: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text ↔ ISL video animation</a:t>
            </a:r>
          </a:p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Speech ↔ Text ↔ Sign language translation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660410" y="8115460"/>
            <a:ext cx="5893596" cy="71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Personalized report cards and performance</a:t>
            </a:r>
          </a:p>
          <a:p>
            <a:pPr algn="just">
              <a:lnSpc>
                <a:spcPts val="2855"/>
              </a:lnSpc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insights.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622310" y="9173878"/>
            <a:ext cx="6241521" cy="71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Teachers, Students, Parents, HR (for inclusivity training and interviews)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990527" y="2531045"/>
            <a:ext cx="4449538" cy="36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b="true" sz="203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Regional </a:t>
            </a:r>
            <a:r>
              <a:rPr lang="en-US" b="true" sz="203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Alphabets &amp; Numbers: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823433" y="3698855"/>
            <a:ext cx="2708077" cy="36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b="true" sz="203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Words &amp; Sentences: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648173" y="5003537"/>
            <a:ext cx="4408527" cy="36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b="true" sz="203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Mathematics &amp; Science Modules: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961406" y="6328489"/>
            <a:ext cx="2868097" cy="36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b="true" sz="203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AI-based Converters: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858081" y="7615507"/>
            <a:ext cx="2619732" cy="36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b="true" sz="203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Learning Analytics: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037151" y="8749444"/>
            <a:ext cx="2261592" cy="36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b="true" sz="203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Multi-User Roles: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358948" y="6986099"/>
            <a:ext cx="2204323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4AAD"/>
                </a:solidFill>
                <a:latin typeface="Alata"/>
                <a:ea typeface="Alata"/>
                <a:cs typeface="Alata"/>
                <a:sym typeface="Alata"/>
              </a:rPr>
              <a:t>What is Needed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934638" y="1854463"/>
            <a:ext cx="2485668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4AAD"/>
                </a:solidFill>
                <a:latin typeface="Alata"/>
                <a:ea typeface="Alata"/>
                <a:cs typeface="Alata"/>
                <a:sym typeface="Alata"/>
              </a:rPr>
              <a:t>Proposed Solution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554007" y="2747449"/>
            <a:ext cx="5339554" cy="107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Fast, mobile-friendly DNN using 126 landmarks for accurate hand sign detection.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973426" y="4335410"/>
            <a:ext cx="4920135" cy="70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80"/>
              </a:lnSpc>
              <a:spcBef>
                <a:spcPct val="0"/>
              </a:spcBef>
            </a:pPr>
            <a:r>
              <a:rPr lang="en-US" sz="1985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AI model converts gestures to </a:t>
            </a:r>
          </a:p>
          <a:p>
            <a:pPr algn="r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Indian Sign Language text in real time.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690316" y="5796024"/>
            <a:ext cx="4332303" cy="71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Smart AI app for real-time sign detection and interactive learning.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870471" y="6909424"/>
            <a:ext cx="3494898" cy="71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Personalized lessons with </a:t>
            </a:r>
          </a:p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regional sign options.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841435" y="7905452"/>
            <a:ext cx="4052126" cy="71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Gamified learning with quizzes, </a:t>
            </a:r>
          </a:p>
          <a:p>
            <a:pPr algn="r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badges, and leaderboards.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901932" y="8882336"/>
            <a:ext cx="3542523" cy="71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Fun, visual, and accessible communication for all ages.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803796" y="2381055"/>
            <a:ext cx="1423392" cy="36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b="true" sz="203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Algorithm: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885447" y="3912905"/>
            <a:ext cx="1210747" cy="36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b="true" sz="203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 Model: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585052" y="1846384"/>
            <a:ext cx="1590794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4AAD"/>
                </a:solidFill>
                <a:latin typeface="Alata"/>
                <a:ea typeface="Alata"/>
                <a:cs typeface="Alata"/>
                <a:sym typeface="Alata"/>
              </a:rPr>
              <a:t>Uniqueness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629820" y="5245619"/>
            <a:ext cx="1626751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4AAD"/>
                </a:solidFill>
                <a:latin typeface="Alata"/>
                <a:ea typeface="Alata"/>
                <a:cs typeface="Alata"/>
                <a:sym typeface="Alata"/>
              </a:rPr>
              <a:t>Innovations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6180543" y="2401412"/>
            <a:ext cx="1047775" cy="618070"/>
            <a:chOff x="0" y="0"/>
            <a:chExt cx="1397034" cy="82409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144325"/>
              <a:ext cx="850067" cy="636487"/>
            </a:xfrm>
            <a:custGeom>
              <a:avLst/>
              <a:gdLst/>
              <a:ahLst/>
              <a:cxnLst/>
              <a:rect r="r" b="b" t="t" l="l"/>
              <a:pathLst>
                <a:path h="636487" w="850067">
                  <a:moveTo>
                    <a:pt x="0" y="0"/>
                  </a:moveTo>
                  <a:lnTo>
                    <a:pt x="850067" y="0"/>
                  </a:lnTo>
                  <a:lnTo>
                    <a:pt x="850067" y="636488"/>
                  </a:lnTo>
                  <a:lnTo>
                    <a:pt x="0" y="636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303100" y="0"/>
              <a:ext cx="802110" cy="802110"/>
            </a:xfrm>
            <a:custGeom>
              <a:avLst/>
              <a:gdLst/>
              <a:ahLst/>
              <a:cxnLst/>
              <a:rect r="r" b="b" t="t" l="l"/>
              <a:pathLst>
                <a:path h="802110" w="802110">
                  <a:moveTo>
                    <a:pt x="0" y="0"/>
                  </a:moveTo>
                  <a:lnTo>
                    <a:pt x="802110" y="0"/>
                  </a:lnTo>
                  <a:lnTo>
                    <a:pt x="802110" y="802110"/>
                  </a:lnTo>
                  <a:lnTo>
                    <a:pt x="0" y="80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  <p:sp>
          <p:nvSpPr>
            <p:cNvPr name="Freeform 80" id="80"/>
            <p:cNvSpPr/>
            <p:nvPr/>
          </p:nvSpPr>
          <p:spPr>
            <a:xfrm flipH="true" flipV="false" rot="0">
              <a:off x="594924" y="21984"/>
              <a:ext cx="802110" cy="802110"/>
            </a:xfrm>
            <a:custGeom>
              <a:avLst/>
              <a:gdLst/>
              <a:ahLst/>
              <a:cxnLst/>
              <a:rect r="r" b="b" t="t" l="l"/>
              <a:pathLst>
                <a:path h="802110" w="802110">
                  <a:moveTo>
                    <a:pt x="802110" y="0"/>
                  </a:moveTo>
                  <a:lnTo>
                    <a:pt x="0" y="0"/>
                  </a:lnTo>
                  <a:lnTo>
                    <a:pt x="0" y="802110"/>
                  </a:lnTo>
                  <a:lnTo>
                    <a:pt x="802110" y="802110"/>
                  </a:lnTo>
                  <a:lnTo>
                    <a:pt x="80211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0" y="9941212"/>
            <a:ext cx="18287998" cy="589657"/>
            <a:chOff x="0" y="0"/>
            <a:chExt cx="24383998" cy="78621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4384000" cy="786209"/>
            </a:xfrm>
            <a:custGeom>
              <a:avLst/>
              <a:gdLst/>
              <a:ahLst/>
              <a:cxnLst/>
              <a:rect r="r" b="b" t="t" l="l"/>
              <a:pathLst>
                <a:path h="7862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6209"/>
                  </a:lnTo>
                  <a:lnTo>
                    <a:pt x="0" y="786209"/>
                  </a:lnTo>
                  <a:close/>
                </a:path>
              </a:pathLst>
            </a:custGeom>
            <a:solidFill>
              <a:srgbClr val="E46C0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3106400" y="9840213"/>
            <a:ext cx="4267200" cy="547688"/>
            <a:chOff x="0" y="0"/>
            <a:chExt cx="5689600" cy="73025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934200" y="9831103"/>
            <a:ext cx="4806000" cy="547688"/>
            <a:chOff x="0" y="0"/>
            <a:chExt cx="6408000" cy="73025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VIDYUT-SHRISTHI’25-idea submission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515607" y="9843026"/>
            <a:ext cx="1898637" cy="46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NeoHack</a:t>
            </a:r>
          </a:p>
        </p:txBody>
      </p:sp>
      <p:sp>
        <p:nvSpPr>
          <p:cNvPr name="AutoShape 90" id="90"/>
          <p:cNvSpPr/>
          <p:nvPr/>
        </p:nvSpPr>
        <p:spPr>
          <a:xfrm flipH="true">
            <a:off x="6712897" y="2743273"/>
            <a:ext cx="277630" cy="1013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34562" y="915387"/>
            <a:ext cx="8229600" cy="957603"/>
            <a:chOff x="0" y="0"/>
            <a:chExt cx="10972800" cy="1276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276804"/>
            </a:xfrm>
            <a:custGeom>
              <a:avLst/>
              <a:gdLst/>
              <a:ahLst/>
              <a:cxnLst/>
              <a:rect r="r" b="b" t="t" l="l"/>
              <a:pathLst>
                <a:path h="127680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76804"/>
                  </a:lnTo>
                  <a:lnTo>
                    <a:pt x="0" y="12768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972800" cy="13053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20"/>
                </a:lnSpc>
              </a:pPr>
              <a:r>
                <a:rPr lang="en-US" sz="4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040" y="83313"/>
            <a:ext cx="2846335" cy="476640"/>
            <a:chOff x="0" y="0"/>
            <a:chExt cx="6084270" cy="1018857"/>
          </a:xfrm>
        </p:grpSpPr>
        <p:sp>
          <p:nvSpPr>
            <p:cNvPr name="Freeform 6" id="6" descr="C:\Users\user\Downloads\WhatsApp Image 2025-09-25 at 09.00.17_f153e206.png"/>
            <p:cNvSpPr/>
            <p:nvPr/>
          </p:nvSpPr>
          <p:spPr>
            <a:xfrm flipH="false" flipV="false" rot="0">
              <a:off x="0" y="0"/>
              <a:ext cx="6084316" cy="1018903"/>
            </a:xfrm>
            <a:custGeom>
              <a:avLst/>
              <a:gdLst/>
              <a:ahLst/>
              <a:cxnLst/>
              <a:rect r="r" b="b" t="t" l="l"/>
              <a:pathLst>
                <a:path h="1018903" w="6084316">
                  <a:moveTo>
                    <a:pt x="0" y="0"/>
                  </a:moveTo>
                  <a:lnTo>
                    <a:pt x="6084316" y="0"/>
                  </a:lnTo>
                  <a:lnTo>
                    <a:pt x="6084316" y="1018903"/>
                  </a:lnTo>
                  <a:lnTo>
                    <a:pt x="0" y="1018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8576" r="0" b="-24857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356478" y="-61756"/>
            <a:ext cx="820994" cy="1199847"/>
            <a:chOff x="0" y="0"/>
            <a:chExt cx="1410132" cy="2060846"/>
          </a:xfrm>
        </p:grpSpPr>
        <p:sp>
          <p:nvSpPr>
            <p:cNvPr name="Freeform 8" id="8" descr="C:\Users\user\Downloads\images (1) (1).png"/>
            <p:cNvSpPr/>
            <p:nvPr/>
          </p:nvSpPr>
          <p:spPr>
            <a:xfrm flipH="false" flipV="false" rot="0">
              <a:off x="0" y="0"/>
              <a:ext cx="1410081" cy="2060895"/>
            </a:xfrm>
            <a:custGeom>
              <a:avLst/>
              <a:gdLst/>
              <a:ahLst/>
              <a:cxnLst/>
              <a:rect r="r" b="b" t="t" l="l"/>
              <a:pathLst>
                <a:path h="2060895" w="1410081">
                  <a:moveTo>
                    <a:pt x="0" y="0"/>
                  </a:moveTo>
                  <a:lnTo>
                    <a:pt x="1410081" y="0"/>
                  </a:lnTo>
                  <a:lnTo>
                    <a:pt x="1410081" y="2060895"/>
                  </a:lnTo>
                  <a:lnTo>
                    <a:pt x="0" y="2060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553" r="-3" b="-755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717796" y="28764"/>
            <a:ext cx="1570204" cy="1062380"/>
            <a:chOff x="0" y="0"/>
            <a:chExt cx="2884858" cy="1951858"/>
          </a:xfrm>
        </p:grpSpPr>
        <p:sp>
          <p:nvSpPr>
            <p:cNvPr name="Freeform 10" id="10" descr="C:\Users\user\Downloads\WhatsApp Image 2025-09-25 at 09.00.18_33ed60e3.png"/>
            <p:cNvSpPr/>
            <p:nvPr/>
          </p:nvSpPr>
          <p:spPr>
            <a:xfrm flipH="false" flipV="false" rot="0">
              <a:off x="0" y="0"/>
              <a:ext cx="2884805" cy="1951822"/>
            </a:xfrm>
            <a:custGeom>
              <a:avLst/>
              <a:gdLst/>
              <a:ahLst/>
              <a:cxnLst/>
              <a:rect r="r" b="b" t="t" l="l"/>
              <a:pathLst>
                <a:path h="1951822" w="2884805">
                  <a:moveTo>
                    <a:pt x="0" y="0"/>
                  </a:moveTo>
                  <a:lnTo>
                    <a:pt x="2884805" y="0"/>
                  </a:lnTo>
                  <a:lnTo>
                    <a:pt x="2884805" y="1951822"/>
                  </a:lnTo>
                  <a:lnTo>
                    <a:pt x="0" y="1951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3900" r="-1" b="-2390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515" y="1028789"/>
            <a:ext cx="490215" cy="49021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47204" y="859039"/>
            <a:ext cx="4203160" cy="695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8"/>
              </a:lnSpc>
            </a:pPr>
            <a:r>
              <a:rPr lang="en-US" sz="4098">
                <a:solidFill>
                  <a:srgbClr val="1986CF"/>
                </a:solidFill>
                <a:latin typeface="Alata"/>
                <a:ea typeface="Alata"/>
                <a:cs typeface="Alata"/>
                <a:sym typeface="Alata"/>
              </a:rPr>
              <a:t>Technical Stacks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92572" y="1519004"/>
            <a:ext cx="6658277" cy="6070494"/>
            <a:chOff x="0" y="0"/>
            <a:chExt cx="8877703" cy="80939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59921" y="670397"/>
              <a:ext cx="8102922" cy="2121492"/>
            </a:xfrm>
            <a:custGeom>
              <a:avLst/>
              <a:gdLst/>
              <a:ahLst/>
              <a:cxnLst/>
              <a:rect r="r" b="b" t="t" l="l"/>
              <a:pathLst>
                <a:path h="2121492" w="8102922">
                  <a:moveTo>
                    <a:pt x="0" y="0"/>
                  </a:moveTo>
                  <a:lnTo>
                    <a:pt x="8102922" y="0"/>
                  </a:lnTo>
                  <a:lnTo>
                    <a:pt x="8102922" y="2121492"/>
                  </a:lnTo>
                  <a:lnTo>
                    <a:pt x="0" y="2121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59921" y="3246011"/>
              <a:ext cx="8102922" cy="2121492"/>
            </a:xfrm>
            <a:custGeom>
              <a:avLst/>
              <a:gdLst/>
              <a:ahLst/>
              <a:cxnLst/>
              <a:rect r="r" b="b" t="t" l="l"/>
              <a:pathLst>
                <a:path h="2121492" w="8102922">
                  <a:moveTo>
                    <a:pt x="0" y="0"/>
                  </a:moveTo>
                  <a:lnTo>
                    <a:pt x="8102922" y="0"/>
                  </a:lnTo>
                  <a:lnTo>
                    <a:pt x="8102922" y="2121492"/>
                  </a:lnTo>
                  <a:lnTo>
                    <a:pt x="0" y="2121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36175" y="5992464"/>
              <a:ext cx="8026669" cy="2101528"/>
            </a:xfrm>
            <a:custGeom>
              <a:avLst/>
              <a:gdLst/>
              <a:ahLst/>
              <a:cxnLst/>
              <a:rect r="r" b="b" t="t" l="l"/>
              <a:pathLst>
                <a:path h="2101528" w="8026669">
                  <a:moveTo>
                    <a:pt x="0" y="0"/>
                  </a:moveTo>
                  <a:lnTo>
                    <a:pt x="8026668" y="0"/>
                  </a:lnTo>
                  <a:lnTo>
                    <a:pt x="8026668" y="2101528"/>
                  </a:lnTo>
                  <a:lnTo>
                    <a:pt x="0" y="2101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471334" y="355804"/>
              <a:ext cx="5730618" cy="904680"/>
              <a:chOff x="0" y="0"/>
              <a:chExt cx="5244644" cy="82796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244644" cy="827960"/>
              </a:xfrm>
              <a:custGeom>
                <a:avLst/>
                <a:gdLst/>
                <a:ahLst/>
                <a:cxnLst/>
                <a:rect r="r" b="b" t="t" l="l"/>
                <a:pathLst>
                  <a:path h="827960" w="5244644">
                    <a:moveTo>
                      <a:pt x="5084624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667940"/>
                    </a:lnTo>
                    <a:lnTo>
                      <a:pt x="160020" y="827960"/>
                    </a:lnTo>
                    <a:lnTo>
                      <a:pt x="5084624" y="827960"/>
                    </a:lnTo>
                    <a:lnTo>
                      <a:pt x="5244644" y="667940"/>
                    </a:lnTo>
                    <a:lnTo>
                      <a:pt x="5244644" y="160020"/>
                    </a:lnTo>
                    <a:lnTo>
                      <a:pt x="5084624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63500" y="15875"/>
                <a:ext cx="5117644" cy="7485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  <a:r>
                  <a:rPr lang="en-US" sz="2199">
                    <a:solidFill>
                      <a:srgbClr val="FEFEFE"/>
                    </a:solidFill>
                    <a:latin typeface="Lexend Deca"/>
                    <a:ea typeface="Lexend Deca"/>
                    <a:cs typeface="Lexend Deca"/>
                    <a:sym typeface="Lexend Deca"/>
                  </a:rPr>
                  <a:t> Programming Language</a:t>
                </a:r>
                <a:r>
                  <a:rPr lang="en-US" sz="2199">
                    <a:solidFill>
                      <a:srgbClr val="FEFEFE"/>
                    </a:solidFill>
                    <a:latin typeface="Lexend Deca"/>
                    <a:ea typeface="Lexend Deca"/>
                    <a:cs typeface="Lexend Deca"/>
                    <a:sym typeface="Lexend Deca"/>
                  </a:rPr>
                  <a:t> </a:t>
                </a:r>
              </a:p>
            </p:txBody>
          </p:sp>
        </p:grpSp>
        <p:sp>
          <p:nvSpPr>
            <p:cNvPr name="AutoShape 22" id="22"/>
            <p:cNvSpPr/>
            <p:nvPr/>
          </p:nvSpPr>
          <p:spPr>
            <a:xfrm>
              <a:off x="25400" y="0"/>
              <a:ext cx="0" cy="6231754"/>
            </a:xfrm>
            <a:prstGeom prst="line">
              <a:avLst/>
            </a:prstGeom>
            <a:ln cap="flat" w="50800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63500" y="6240016"/>
              <a:ext cx="483163" cy="0"/>
            </a:xfrm>
            <a:prstGeom prst="line">
              <a:avLst/>
            </a:prstGeom>
            <a:ln cap="flat" w="50800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4" id="24"/>
            <p:cNvSpPr/>
            <p:nvPr/>
          </p:nvSpPr>
          <p:spPr>
            <a:xfrm>
              <a:off x="25400" y="3484449"/>
              <a:ext cx="445934" cy="0"/>
            </a:xfrm>
            <a:prstGeom prst="line">
              <a:avLst/>
            </a:prstGeom>
            <a:ln cap="flat" w="50800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63500" y="808144"/>
              <a:ext cx="407834" cy="0"/>
            </a:xfrm>
            <a:prstGeom prst="line">
              <a:avLst/>
            </a:prstGeom>
            <a:ln cap="flat" w="50800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26" id="26"/>
            <p:cNvGrpSpPr/>
            <p:nvPr/>
          </p:nvGrpSpPr>
          <p:grpSpPr>
            <a:xfrm rot="0">
              <a:off x="471334" y="3032109"/>
              <a:ext cx="5954660" cy="904680"/>
              <a:chOff x="0" y="0"/>
              <a:chExt cx="5449687" cy="82796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449687" cy="827960"/>
              </a:xfrm>
              <a:custGeom>
                <a:avLst/>
                <a:gdLst/>
                <a:ahLst/>
                <a:cxnLst/>
                <a:rect r="r" b="b" t="t" l="l"/>
                <a:pathLst>
                  <a:path h="827960" w="5449687">
                    <a:moveTo>
                      <a:pt x="5289667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667940"/>
                    </a:lnTo>
                    <a:lnTo>
                      <a:pt x="160020" y="827960"/>
                    </a:lnTo>
                    <a:lnTo>
                      <a:pt x="5289667" y="827960"/>
                    </a:lnTo>
                    <a:lnTo>
                      <a:pt x="5449687" y="667940"/>
                    </a:lnTo>
                    <a:lnTo>
                      <a:pt x="5449687" y="160020"/>
                    </a:lnTo>
                    <a:lnTo>
                      <a:pt x="5289667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63500" y="15875"/>
                <a:ext cx="5322687" cy="7485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  <a:r>
                  <a:rPr lang="en-US" sz="2199">
                    <a:solidFill>
                      <a:srgbClr val="FEFEFE"/>
                    </a:solidFill>
                    <a:latin typeface="Lexend Deca"/>
                    <a:ea typeface="Lexend Deca"/>
                    <a:cs typeface="Lexend Deca"/>
                    <a:sym typeface="Lexend Deca"/>
                  </a:rPr>
                  <a:t> Core Libraries &amp; Frameworks</a:t>
                </a:r>
                <a:r>
                  <a:rPr lang="en-US" sz="2199">
                    <a:solidFill>
                      <a:srgbClr val="FEFEFE"/>
                    </a:solidFill>
                    <a:latin typeface="Lexend Deca"/>
                    <a:ea typeface="Lexend Deca"/>
                    <a:cs typeface="Lexend Deca"/>
                    <a:sym typeface="Lexend Deca"/>
                  </a:rPr>
                  <a:t> 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546663" y="5787677"/>
              <a:ext cx="6852138" cy="904680"/>
              <a:chOff x="0" y="0"/>
              <a:chExt cx="6271056" cy="82796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271056" cy="827960"/>
              </a:xfrm>
              <a:custGeom>
                <a:avLst/>
                <a:gdLst/>
                <a:ahLst/>
                <a:cxnLst/>
                <a:rect r="r" b="b" t="t" l="l"/>
                <a:pathLst>
                  <a:path h="827960" w="6271056">
                    <a:moveTo>
                      <a:pt x="6111036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667940"/>
                    </a:lnTo>
                    <a:lnTo>
                      <a:pt x="160020" y="827960"/>
                    </a:lnTo>
                    <a:lnTo>
                      <a:pt x="6111036" y="827960"/>
                    </a:lnTo>
                    <a:lnTo>
                      <a:pt x="6271056" y="667940"/>
                    </a:lnTo>
                    <a:lnTo>
                      <a:pt x="6271056" y="160020"/>
                    </a:lnTo>
                    <a:lnTo>
                      <a:pt x="6111036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63500" y="15875"/>
                <a:ext cx="6144056" cy="7485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  <a:r>
                  <a:rPr lang="en-US" sz="2199">
                    <a:solidFill>
                      <a:srgbClr val="FEFEFE"/>
                    </a:solidFill>
                    <a:latin typeface="Lexend Deca"/>
                    <a:ea typeface="Lexend Deca"/>
                    <a:cs typeface="Lexend Deca"/>
                    <a:sym typeface="Lexend Deca"/>
                  </a:rPr>
                  <a:t>Deployment &amp; Backend Integration</a:t>
                </a: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1008262" y="1123835"/>
              <a:ext cx="1667345" cy="1668054"/>
            </a:xfrm>
            <a:custGeom>
              <a:avLst/>
              <a:gdLst/>
              <a:ahLst/>
              <a:cxnLst/>
              <a:rect r="r" b="b" t="t" l="l"/>
              <a:pathLst>
                <a:path h="1668054" w="1667345">
                  <a:moveTo>
                    <a:pt x="0" y="0"/>
                  </a:moveTo>
                  <a:lnTo>
                    <a:pt x="1667344" y="0"/>
                  </a:lnTo>
                  <a:lnTo>
                    <a:pt x="1667344" y="1668054"/>
                  </a:lnTo>
                  <a:lnTo>
                    <a:pt x="0" y="1668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191417" y="3981451"/>
              <a:ext cx="2612778" cy="1050337"/>
            </a:xfrm>
            <a:custGeom>
              <a:avLst/>
              <a:gdLst/>
              <a:ahLst/>
              <a:cxnLst/>
              <a:rect r="r" b="b" t="t" l="l"/>
              <a:pathLst>
                <a:path h="1050337" w="2612778">
                  <a:moveTo>
                    <a:pt x="0" y="0"/>
                  </a:moveTo>
                  <a:lnTo>
                    <a:pt x="2612778" y="0"/>
                  </a:lnTo>
                  <a:lnTo>
                    <a:pt x="2612778" y="1050337"/>
                  </a:lnTo>
                  <a:lnTo>
                    <a:pt x="0" y="1050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4097233" y="3861873"/>
              <a:ext cx="1122372" cy="1122372"/>
            </a:xfrm>
            <a:custGeom>
              <a:avLst/>
              <a:gdLst/>
              <a:ahLst/>
              <a:cxnLst/>
              <a:rect r="r" b="b" t="t" l="l"/>
              <a:pathLst>
                <a:path h="1122372" w="1122372">
                  <a:moveTo>
                    <a:pt x="0" y="0"/>
                  </a:moveTo>
                  <a:lnTo>
                    <a:pt x="1122371" y="0"/>
                  </a:lnTo>
                  <a:lnTo>
                    <a:pt x="1122371" y="1122372"/>
                  </a:lnTo>
                  <a:lnTo>
                    <a:pt x="0" y="1122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5764484" y="3900068"/>
              <a:ext cx="972807" cy="1284224"/>
            </a:xfrm>
            <a:custGeom>
              <a:avLst/>
              <a:gdLst/>
              <a:ahLst/>
              <a:cxnLst/>
              <a:rect r="r" b="b" t="t" l="l"/>
              <a:pathLst>
                <a:path h="1284224" w="972807">
                  <a:moveTo>
                    <a:pt x="0" y="0"/>
                  </a:moveTo>
                  <a:lnTo>
                    <a:pt x="972807" y="0"/>
                  </a:lnTo>
                  <a:lnTo>
                    <a:pt x="972807" y="1284224"/>
                  </a:lnTo>
                  <a:lnTo>
                    <a:pt x="0" y="1284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100220" y="6702596"/>
              <a:ext cx="1548091" cy="1139834"/>
            </a:xfrm>
            <a:custGeom>
              <a:avLst/>
              <a:gdLst/>
              <a:ahLst/>
              <a:cxnLst/>
              <a:rect r="r" b="b" t="t" l="l"/>
              <a:pathLst>
                <a:path h="1139834" w="1548091">
                  <a:moveTo>
                    <a:pt x="0" y="0"/>
                  </a:moveTo>
                  <a:lnTo>
                    <a:pt x="1548090" y="0"/>
                  </a:lnTo>
                  <a:lnTo>
                    <a:pt x="1548090" y="1139834"/>
                  </a:lnTo>
                  <a:lnTo>
                    <a:pt x="0" y="113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8823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4122343" y="6807085"/>
              <a:ext cx="4159217" cy="769455"/>
            </a:xfrm>
            <a:custGeom>
              <a:avLst/>
              <a:gdLst/>
              <a:ahLst/>
              <a:cxnLst/>
              <a:rect r="r" b="b" t="t" l="l"/>
              <a:pathLst>
                <a:path h="769455" w="4159217">
                  <a:moveTo>
                    <a:pt x="0" y="0"/>
                  </a:moveTo>
                  <a:lnTo>
                    <a:pt x="4159217" y="0"/>
                  </a:lnTo>
                  <a:lnTo>
                    <a:pt x="4159217" y="769455"/>
                  </a:lnTo>
                  <a:lnTo>
                    <a:pt x="0" y="769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2320006" y="1379660"/>
              <a:ext cx="6557696" cy="953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8"/>
                </a:lnSpc>
                <a:spcBef>
                  <a:spcPct val="0"/>
                </a:spcBef>
              </a:pPr>
              <a:r>
                <a:rPr lang="en-US" b="true" sz="204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core language for model training, gesture recognition, and app logic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4142162" y="4850710"/>
              <a:ext cx="1317522" cy="3335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1"/>
                </a:lnSpc>
              </a:pPr>
              <a:r>
                <a:rPr lang="en-US" sz="1501" b="true">
                  <a:solidFill>
                    <a:srgbClr val="80808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MediaPipe</a:t>
              </a:r>
            </a:p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7105591" y="3836473"/>
              <a:ext cx="1519906" cy="820749"/>
            </a:xfrm>
            <a:custGeom>
              <a:avLst/>
              <a:gdLst/>
              <a:ahLst/>
              <a:cxnLst/>
              <a:rect r="r" b="b" t="t" l="l"/>
              <a:pathLst>
                <a:path h="820749" w="1519906">
                  <a:moveTo>
                    <a:pt x="0" y="0"/>
                  </a:moveTo>
                  <a:lnTo>
                    <a:pt x="1519906" y="0"/>
                  </a:lnTo>
                  <a:lnTo>
                    <a:pt x="1519906" y="820750"/>
                  </a:lnTo>
                  <a:lnTo>
                    <a:pt x="0" y="820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7105591" y="4722247"/>
              <a:ext cx="1284706" cy="309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4"/>
                </a:lnSpc>
              </a:pPr>
              <a:r>
                <a:rPr lang="en-US" sz="1360" b="true">
                  <a:solidFill>
                    <a:srgbClr val="E89E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Scikit-learn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8620856" y="8139061"/>
            <a:ext cx="466040" cy="0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>
            <a:off x="15461842" y="8983031"/>
            <a:ext cx="1252543" cy="512438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grpSp>
        <p:nvGrpSpPr>
          <p:cNvPr name="Group 44" id="44"/>
          <p:cNvGrpSpPr/>
          <p:nvPr/>
        </p:nvGrpSpPr>
        <p:grpSpPr>
          <a:xfrm rot="5400000">
            <a:off x="2580031" y="5330755"/>
            <a:ext cx="2056617" cy="6742168"/>
            <a:chOff x="0" y="0"/>
            <a:chExt cx="648164" cy="21248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8164" cy="2124864"/>
            </a:xfrm>
            <a:custGeom>
              <a:avLst/>
              <a:gdLst/>
              <a:ahLst/>
              <a:cxnLst/>
              <a:rect r="r" b="b" t="t" l="l"/>
              <a:pathLst>
                <a:path h="2124864" w="648164">
                  <a:moveTo>
                    <a:pt x="75288" y="0"/>
                  </a:moveTo>
                  <a:lnTo>
                    <a:pt x="572876" y="0"/>
                  </a:lnTo>
                  <a:cubicBezTo>
                    <a:pt x="614457" y="0"/>
                    <a:pt x="648164" y="33708"/>
                    <a:pt x="648164" y="75288"/>
                  </a:cubicBezTo>
                  <a:lnTo>
                    <a:pt x="648164" y="2049576"/>
                  </a:lnTo>
                  <a:cubicBezTo>
                    <a:pt x="648164" y="2069544"/>
                    <a:pt x="640232" y="2088693"/>
                    <a:pt x="626113" y="2102813"/>
                  </a:cubicBezTo>
                  <a:cubicBezTo>
                    <a:pt x="611994" y="2116932"/>
                    <a:pt x="592844" y="2124864"/>
                    <a:pt x="572876" y="2124864"/>
                  </a:cubicBezTo>
                  <a:lnTo>
                    <a:pt x="75288" y="2124864"/>
                  </a:lnTo>
                  <a:cubicBezTo>
                    <a:pt x="55320" y="2124864"/>
                    <a:pt x="36171" y="2116932"/>
                    <a:pt x="22051" y="2102813"/>
                  </a:cubicBezTo>
                  <a:cubicBezTo>
                    <a:pt x="7932" y="2088693"/>
                    <a:pt x="0" y="2069544"/>
                    <a:pt x="0" y="2049576"/>
                  </a:cubicBezTo>
                  <a:lnTo>
                    <a:pt x="0" y="75288"/>
                  </a:lnTo>
                  <a:cubicBezTo>
                    <a:pt x="0" y="55320"/>
                    <a:pt x="7932" y="36171"/>
                    <a:pt x="22051" y="22051"/>
                  </a:cubicBezTo>
                  <a:cubicBezTo>
                    <a:pt x="36171" y="7932"/>
                    <a:pt x="55320" y="0"/>
                    <a:pt x="75288" y="0"/>
                  </a:cubicBezTo>
                  <a:close/>
                </a:path>
              </a:pathLst>
            </a:custGeom>
            <a:solidFill>
              <a:srgbClr val="FEFEFE"/>
            </a:solidFill>
            <a:ln w="47625" cap="sq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48164" cy="2162964"/>
            </a:xfrm>
            <a:prstGeom prst="rect">
              <a:avLst/>
            </a:prstGeom>
          </p:spPr>
          <p:txBody>
            <a:bodyPr anchor="ctr" rtlCol="false" tIns="47208" lIns="47208" bIns="47208" rIns="47208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5908846" y="7777581"/>
            <a:ext cx="912893" cy="1848042"/>
          </a:xfrm>
          <a:custGeom>
            <a:avLst/>
            <a:gdLst/>
            <a:ahLst/>
            <a:cxnLst/>
            <a:rect r="r" b="b" t="t" l="l"/>
            <a:pathLst>
              <a:path h="1848042" w="912893">
                <a:moveTo>
                  <a:pt x="0" y="0"/>
                </a:moveTo>
                <a:lnTo>
                  <a:pt x="912893" y="0"/>
                </a:lnTo>
                <a:lnTo>
                  <a:pt x="912893" y="1848042"/>
                </a:lnTo>
                <a:lnTo>
                  <a:pt x="0" y="184804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6439" r="0" b="-4879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9164204" y="6677342"/>
            <a:ext cx="9525" cy="88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grpSp>
        <p:nvGrpSpPr>
          <p:cNvPr name="Group 49" id="49"/>
          <p:cNvGrpSpPr/>
          <p:nvPr/>
        </p:nvGrpSpPr>
        <p:grpSpPr>
          <a:xfrm rot="5400000">
            <a:off x="10467443" y="2182054"/>
            <a:ext cx="4327575" cy="10941663"/>
            <a:chOff x="0" y="0"/>
            <a:chExt cx="1363880" cy="344837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63880" cy="3448378"/>
            </a:xfrm>
            <a:custGeom>
              <a:avLst/>
              <a:gdLst/>
              <a:ahLst/>
              <a:cxnLst/>
              <a:rect r="r" b="b" t="t" l="l"/>
              <a:pathLst>
                <a:path h="3448378" w="1363880">
                  <a:moveTo>
                    <a:pt x="35779" y="0"/>
                  </a:moveTo>
                  <a:lnTo>
                    <a:pt x="1328101" y="0"/>
                  </a:lnTo>
                  <a:cubicBezTo>
                    <a:pt x="1347861" y="0"/>
                    <a:pt x="1363880" y="16019"/>
                    <a:pt x="1363880" y="35779"/>
                  </a:cubicBezTo>
                  <a:lnTo>
                    <a:pt x="1363880" y="3412599"/>
                  </a:lnTo>
                  <a:cubicBezTo>
                    <a:pt x="1363880" y="3432359"/>
                    <a:pt x="1347861" y="3448378"/>
                    <a:pt x="1328101" y="3448378"/>
                  </a:cubicBezTo>
                  <a:lnTo>
                    <a:pt x="35779" y="3448378"/>
                  </a:lnTo>
                  <a:cubicBezTo>
                    <a:pt x="16019" y="3448378"/>
                    <a:pt x="0" y="3432359"/>
                    <a:pt x="0" y="3412599"/>
                  </a:cubicBezTo>
                  <a:lnTo>
                    <a:pt x="0" y="35779"/>
                  </a:lnTo>
                  <a:cubicBezTo>
                    <a:pt x="0" y="16019"/>
                    <a:pt x="16019" y="0"/>
                    <a:pt x="35779" y="0"/>
                  </a:cubicBezTo>
                  <a:close/>
                </a:path>
              </a:pathLst>
            </a:custGeom>
            <a:solidFill>
              <a:srgbClr val="FEFEFE"/>
            </a:solidFill>
            <a:ln w="47625" cap="sq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363880" cy="3486478"/>
            </a:xfrm>
            <a:prstGeom prst="rect">
              <a:avLst/>
            </a:prstGeom>
          </p:spPr>
          <p:txBody>
            <a:bodyPr anchor="ctr" rtlCol="false" tIns="47208" lIns="47208" bIns="47208" rIns="47208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160399" y="5489098"/>
            <a:ext cx="3845509" cy="1199785"/>
            <a:chOff x="0" y="0"/>
            <a:chExt cx="1424695" cy="4445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24695" cy="481613"/>
            </a:xfrm>
            <a:custGeom>
              <a:avLst/>
              <a:gdLst/>
              <a:ahLst/>
              <a:cxnLst/>
              <a:rect r="r" b="b" t="t" l="l"/>
              <a:pathLst>
                <a:path h="481613" w="1424695">
                  <a:moveTo>
                    <a:pt x="1386161" y="0"/>
                  </a:moveTo>
                  <a:lnTo>
                    <a:pt x="38535" y="0"/>
                  </a:lnTo>
                  <a:cubicBezTo>
                    <a:pt x="28315" y="0"/>
                    <a:pt x="18513" y="4060"/>
                    <a:pt x="11287" y="11287"/>
                  </a:cubicBezTo>
                  <a:cubicBezTo>
                    <a:pt x="4060" y="18513"/>
                    <a:pt x="0" y="28315"/>
                    <a:pt x="0" y="38535"/>
                  </a:cubicBezTo>
                  <a:lnTo>
                    <a:pt x="0" y="398743"/>
                  </a:lnTo>
                  <a:cubicBezTo>
                    <a:pt x="75782" y="433272"/>
                    <a:pt x="318283" y="481613"/>
                    <a:pt x="682034" y="398743"/>
                  </a:cubicBezTo>
                  <a:cubicBezTo>
                    <a:pt x="1045788" y="315872"/>
                    <a:pt x="1328706" y="364213"/>
                    <a:pt x="1424695" y="398743"/>
                  </a:cubicBezTo>
                  <a:lnTo>
                    <a:pt x="1424695" y="38535"/>
                  </a:lnTo>
                  <a:cubicBezTo>
                    <a:pt x="1424695" y="17253"/>
                    <a:pt x="1407443" y="0"/>
                    <a:pt x="13861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424695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User Journey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7430116" y="6777106"/>
            <a:ext cx="1190739" cy="2293516"/>
          </a:xfrm>
          <a:custGeom>
            <a:avLst/>
            <a:gdLst/>
            <a:ahLst/>
            <a:cxnLst/>
            <a:rect r="r" b="b" t="t" l="l"/>
            <a:pathLst>
              <a:path h="2293516" w="1190739">
                <a:moveTo>
                  <a:pt x="0" y="0"/>
                </a:moveTo>
                <a:lnTo>
                  <a:pt x="1190740" y="0"/>
                </a:lnTo>
                <a:lnTo>
                  <a:pt x="1190740" y="2293517"/>
                </a:lnTo>
                <a:lnTo>
                  <a:pt x="0" y="229351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5264" r="0" b="-11732"/>
            </a:stretch>
          </a:blipFill>
        </p:spPr>
      </p:sp>
      <p:sp>
        <p:nvSpPr>
          <p:cNvPr name="AutoShape 56" id="56"/>
          <p:cNvSpPr/>
          <p:nvPr/>
        </p:nvSpPr>
        <p:spPr>
          <a:xfrm flipV="true">
            <a:off x="14327518" y="6766568"/>
            <a:ext cx="789178" cy="20512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Freeform 57" id="57"/>
          <p:cNvSpPr/>
          <p:nvPr/>
        </p:nvSpPr>
        <p:spPr>
          <a:xfrm flipH="false" flipV="false" rot="0">
            <a:off x="9076989" y="6739006"/>
            <a:ext cx="1135949" cy="2381011"/>
          </a:xfrm>
          <a:custGeom>
            <a:avLst/>
            <a:gdLst/>
            <a:ahLst/>
            <a:cxnLst/>
            <a:rect r="r" b="b" t="t" l="l"/>
            <a:pathLst>
              <a:path h="2381011" w="1135949">
                <a:moveTo>
                  <a:pt x="0" y="0"/>
                </a:moveTo>
                <a:lnTo>
                  <a:pt x="1135949" y="0"/>
                </a:lnTo>
                <a:lnTo>
                  <a:pt x="1135949" y="2381012"/>
                </a:lnTo>
                <a:lnTo>
                  <a:pt x="0" y="23810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4872" r="0" b="-2639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3377633" y="5859403"/>
            <a:ext cx="972453" cy="1893455"/>
          </a:xfrm>
          <a:custGeom>
            <a:avLst/>
            <a:gdLst/>
            <a:ahLst/>
            <a:cxnLst/>
            <a:rect r="r" b="b" t="t" l="l"/>
            <a:pathLst>
              <a:path h="1893455" w="972453">
                <a:moveTo>
                  <a:pt x="0" y="0"/>
                </a:moveTo>
                <a:lnTo>
                  <a:pt x="972453" y="0"/>
                </a:lnTo>
                <a:lnTo>
                  <a:pt x="972453" y="1893455"/>
                </a:lnTo>
                <a:lnTo>
                  <a:pt x="0" y="189345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5955" r="0" b="-9782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5089384" y="5939941"/>
            <a:ext cx="866037" cy="1712945"/>
          </a:xfrm>
          <a:custGeom>
            <a:avLst/>
            <a:gdLst/>
            <a:ahLst/>
            <a:cxnLst/>
            <a:rect r="r" b="b" t="t" l="l"/>
            <a:pathLst>
              <a:path h="1712945" w="866037">
                <a:moveTo>
                  <a:pt x="0" y="0"/>
                </a:moveTo>
                <a:lnTo>
                  <a:pt x="866037" y="0"/>
                </a:lnTo>
                <a:lnTo>
                  <a:pt x="866037" y="1712945"/>
                </a:lnTo>
                <a:lnTo>
                  <a:pt x="0" y="171294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9265" r="0" b="-4668"/>
            </a:stretch>
          </a:blipFill>
        </p:spPr>
      </p:sp>
      <p:sp>
        <p:nvSpPr>
          <p:cNvPr name="AutoShape 60" id="60"/>
          <p:cNvSpPr/>
          <p:nvPr/>
        </p:nvSpPr>
        <p:spPr>
          <a:xfrm flipV="true">
            <a:off x="10212938" y="6806131"/>
            <a:ext cx="3164695" cy="1108252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61" id="61"/>
          <p:cNvSpPr/>
          <p:nvPr/>
        </p:nvSpPr>
        <p:spPr>
          <a:xfrm>
            <a:off x="10285413" y="7922276"/>
            <a:ext cx="4045624" cy="845203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Freeform 62" id="62"/>
          <p:cNvSpPr/>
          <p:nvPr/>
        </p:nvSpPr>
        <p:spPr>
          <a:xfrm flipH="false" flipV="false" rot="0">
            <a:off x="14331036" y="7842911"/>
            <a:ext cx="925044" cy="1906287"/>
          </a:xfrm>
          <a:custGeom>
            <a:avLst/>
            <a:gdLst/>
            <a:ahLst/>
            <a:cxnLst/>
            <a:rect r="r" b="b" t="t" l="l"/>
            <a:pathLst>
              <a:path h="1906287" w="925044">
                <a:moveTo>
                  <a:pt x="0" y="0"/>
                </a:moveTo>
                <a:lnTo>
                  <a:pt x="925045" y="0"/>
                </a:lnTo>
                <a:lnTo>
                  <a:pt x="925045" y="1906287"/>
                </a:lnTo>
                <a:lnTo>
                  <a:pt x="0" y="190628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-5879" r="0" b="-3474"/>
            </a:stretch>
          </a:blipFill>
        </p:spPr>
      </p:sp>
      <p:sp>
        <p:nvSpPr>
          <p:cNvPr name="AutoShape 63" id="63"/>
          <p:cNvSpPr/>
          <p:nvPr/>
        </p:nvSpPr>
        <p:spPr>
          <a:xfrm flipV="true">
            <a:off x="15256081" y="6503137"/>
            <a:ext cx="1458305" cy="2311968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Freeform 64" id="64"/>
          <p:cNvSpPr/>
          <p:nvPr/>
        </p:nvSpPr>
        <p:spPr>
          <a:xfrm flipH="false" flipV="false" rot="0">
            <a:off x="16717796" y="5752284"/>
            <a:ext cx="978733" cy="1873200"/>
          </a:xfrm>
          <a:custGeom>
            <a:avLst/>
            <a:gdLst/>
            <a:ahLst/>
            <a:cxnLst/>
            <a:rect r="r" b="b" t="t" l="l"/>
            <a:pathLst>
              <a:path h="1873200" w="978733">
                <a:moveTo>
                  <a:pt x="0" y="0"/>
                </a:moveTo>
                <a:lnTo>
                  <a:pt x="978733" y="0"/>
                </a:lnTo>
                <a:lnTo>
                  <a:pt x="978733" y="1873200"/>
                </a:lnTo>
                <a:lnTo>
                  <a:pt x="0" y="1873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-10266" r="0" b="-7478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6717796" y="7992021"/>
            <a:ext cx="1066089" cy="1668081"/>
          </a:xfrm>
          <a:custGeom>
            <a:avLst/>
            <a:gdLst/>
            <a:ahLst/>
            <a:cxnLst/>
            <a:rect r="r" b="b" t="t" l="l"/>
            <a:pathLst>
              <a:path h="1668081" w="1066089">
                <a:moveTo>
                  <a:pt x="0" y="0"/>
                </a:moveTo>
                <a:lnTo>
                  <a:pt x="1066089" y="0"/>
                </a:lnTo>
                <a:lnTo>
                  <a:pt x="1066089" y="1668081"/>
                </a:lnTo>
                <a:lnTo>
                  <a:pt x="0" y="166808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1138" t="-1732" r="-1365" b="-32052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7400303" y="9091443"/>
            <a:ext cx="1129585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1A24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 Page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898928" y="9109717"/>
            <a:ext cx="1478945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1700">
                <a:solidFill>
                  <a:srgbClr val="1A24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Welcome page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779661" y="6838233"/>
            <a:ext cx="1499045" cy="3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1A24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Study mode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841009" y="8283481"/>
            <a:ext cx="2241258" cy="3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1A24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Practice Mode</a:t>
            </a:r>
          </a:p>
        </p:txBody>
      </p:sp>
      <p:grpSp>
        <p:nvGrpSpPr>
          <p:cNvPr name="Group 70" id="70"/>
          <p:cNvGrpSpPr/>
          <p:nvPr/>
        </p:nvGrpSpPr>
        <p:grpSpPr>
          <a:xfrm rot="5400000">
            <a:off x="10832701" y="-1980288"/>
            <a:ext cx="3587533" cy="10951188"/>
            <a:chOff x="0" y="0"/>
            <a:chExt cx="1225300" cy="374031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25300" cy="3740310"/>
            </a:xfrm>
            <a:custGeom>
              <a:avLst/>
              <a:gdLst/>
              <a:ahLst/>
              <a:cxnLst/>
              <a:rect r="r" b="b" t="t" l="l"/>
              <a:pathLst>
                <a:path h="3740310" w="1225300">
                  <a:moveTo>
                    <a:pt x="43160" y="0"/>
                  </a:moveTo>
                  <a:lnTo>
                    <a:pt x="1182139" y="0"/>
                  </a:lnTo>
                  <a:cubicBezTo>
                    <a:pt x="1205976" y="0"/>
                    <a:pt x="1225300" y="19323"/>
                    <a:pt x="1225300" y="43160"/>
                  </a:cubicBezTo>
                  <a:lnTo>
                    <a:pt x="1225300" y="3697150"/>
                  </a:lnTo>
                  <a:cubicBezTo>
                    <a:pt x="1225300" y="3708597"/>
                    <a:pt x="1220752" y="3719575"/>
                    <a:pt x="1212658" y="3727669"/>
                  </a:cubicBezTo>
                  <a:cubicBezTo>
                    <a:pt x="1204564" y="3735763"/>
                    <a:pt x="1193586" y="3740310"/>
                    <a:pt x="1182139" y="3740310"/>
                  </a:cubicBezTo>
                  <a:lnTo>
                    <a:pt x="43160" y="3740310"/>
                  </a:lnTo>
                  <a:cubicBezTo>
                    <a:pt x="31713" y="3740310"/>
                    <a:pt x="20735" y="3735763"/>
                    <a:pt x="12641" y="3727669"/>
                  </a:cubicBezTo>
                  <a:cubicBezTo>
                    <a:pt x="4547" y="3719575"/>
                    <a:pt x="0" y="3708597"/>
                    <a:pt x="0" y="3697150"/>
                  </a:cubicBezTo>
                  <a:lnTo>
                    <a:pt x="0" y="43160"/>
                  </a:lnTo>
                  <a:cubicBezTo>
                    <a:pt x="0" y="31713"/>
                    <a:pt x="4547" y="20735"/>
                    <a:pt x="12641" y="12641"/>
                  </a:cubicBezTo>
                  <a:cubicBezTo>
                    <a:pt x="20735" y="4547"/>
                    <a:pt x="31713" y="0"/>
                    <a:pt x="43160" y="0"/>
                  </a:cubicBezTo>
                  <a:close/>
                </a:path>
              </a:pathLst>
            </a:custGeom>
            <a:solidFill>
              <a:srgbClr val="FEFEFE"/>
            </a:solidFill>
            <a:ln w="47625" cap="sq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225300" cy="3778410"/>
            </a:xfrm>
            <a:prstGeom prst="rect">
              <a:avLst/>
            </a:prstGeom>
          </p:spPr>
          <p:txBody>
            <a:bodyPr anchor="ctr" rtlCol="false" tIns="47208" lIns="47208" bIns="47208" rIns="47208"/>
            <a:lstStyle/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10756097" y="2072174"/>
            <a:ext cx="744227" cy="1043113"/>
          </a:xfrm>
          <a:custGeom>
            <a:avLst/>
            <a:gdLst/>
            <a:ahLst/>
            <a:cxnLst/>
            <a:rect r="r" b="b" t="t" l="l"/>
            <a:pathLst>
              <a:path h="1043113" w="744227">
                <a:moveTo>
                  <a:pt x="0" y="0"/>
                </a:moveTo>
                <a:lnTo>
                  <a:pt x="744227" y="0"/>
                </a:lnTo>
                <a:lnTo>
                  <a:pt x="744227" y="1043113"/>
                </a:lnTo>
                <a:lnTo>
                  <a:pt x="0" y="104311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35155" t="-6531" r="-38904" b="-17654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4" id="74"/>
          <p:cNvGrpSpPr/>
          <p:nvPr/>
        </p:nvGrpSpPr>
        <p:grpSpPr>
          <a:xfrm rot="0">
            <a:off x="7150874" y="1724621"/>
            <a:ext cx="3458008" cy="992703"/>
            <a:chOff x="0" y="0"/>
            <a:chExt cx="1388382" cy="39856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388382" cy="435681"/>
            </a:xfrm>
            <a:custGeom>
              <a:avLst/>
              <a:gdLst/>
              <a:ahLst/>
              <a:cxnLst/>
              <a:rect r="r" b="b" t="t" l="l"/>
              <a:pathLst>
                <a:path h="435681" w="1388382">
                  <a:moveTo>
                    <a:pt x="1345529" y="0"/>
                  </a:moveTo>
                  <a:lnTo>
                    <a:pt x="42853" y="0"/>
                  </a:lnTo>
                  <a:cubicBezTo>
                    <a:pt x="31487" y="0"/>
                    <a:pt x="20588" y="4515"/>
                    <a:pt x="12551" y="12551"/>
                  </a:cubicBezTo>
                  <a:cubicBezTo>
                    <a:pt x="4515" y="20588"/>
                    <a:pt x="0" y="31487"/>
                    <a:pt x="0" y="42853"/>
                  </a:cubicBezTo>
                  <a:lnTo>
                    <a:pt x="0" y="357539"/>
                  </a:lnTo>
                  <a:cubicBezTo>
                    <a:pt x="73850" y="388500"/>
                    <a:pt x="310170" y="435681"/>
                    <a:pt x="664650" y="357539"/>
                  </a:cubicBezTo>
                  <a:cubicBezTo>
                    <a:pt x="1019132" y="283231"/>
                    <a:pt x="1294839" y="326577"/>
                    <a:pt x="1388382" y="357539"/>
                  </a:cubicBezTo>
                  <a:lnTo>
                    <a:pt x="1388382" y="42853"/>
                  </a:lnTo>
                  <a:cubicBezTo>
                    <a:pt x="1388382" y="31487"/>
                    <a:pt x="1383867" y="20588"/>
                    <a:pt x="1375831" y="12551"/>
                  </a:cubicBezTo>
                  <a:cubicBezTo>
                    <a:pt x="1367795" y="4515"/>
                    <a:pt x="1356895" y="0"/>
                    <a:pt x="134552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388382" cy="360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System Flow</a:t>
              </a: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0">
            <a:off x="12070409" y="2130192"/>
            <a:ext cx="927078" cy="927078"/>
          </a:xfrm>
          <a:custGeom>
            <a:avLst/>
            <a:gdLst/>
            <a:ahLst/>
            <a:cxnLst/>
            <a:rect r="r" b="b" t="t" l="l"/>
            <a:pathLst>
              <a:path h="927078" w="927078">
                <a:moveTo>
                  <a:pt x="0" y="0"/>
                </a:moveTo>
                <a:lnTo>
                  <a:pt x="927078" y="0"/>
                </a:lnTo>
                <a:lnTo>
                  <a:pt x="927078" y="927078"/>
                </a:lnTo>
                <a:lnTo>
                  <a:pt x="0" y="92707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8" id="78"/>
          <p:cNvSpPr/>
          <p:nvPr/>
        </p:nvSpPr>
        <p:spPr>
          <a:xfrm flipH="false" flipV="false" rot="0">
            <a:off x="13568987" y="2207259"/>
            <a:ext cx="1290216" cy="927078"/>
          </a:xfrm>
          <a:custGeom>
            <a:avLst/>
            <a:gdLst/>
            <a:ahLst/>
            <a:cxnLst/>
            <a:rect r="r" b="b" t="t" l="l"/>
            <a:pathLst>
              <a:path h="927078" w="1290216">
                <a:moveTo>
                  <a:pt x="0" y="0"/>
                </a:moveTo>
                <a:lnTo>
                  <a:pt x="1290216" y="0"/>
                </a:lnTo>
                <a:lnTo>
                  <a:pt x="1290216" y="927078"/>
                </a:lnTo>
                <a:lnTo>
                  <a:pt x="0" y="927078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13999" t="0" r="0" b="-36538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79" id="79"/>
          <p:cNvSpPr/>
          <p:nvPr/>
        </p:nvSpPr>
        <p:spPr>
          <a:xfrm flipV="true">
            <a:off x="11573426" y="2593731"/>
            <a:ext cx="496982" cy="103348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80" id="80"/>
          <p:cNvSpPr/>
          <p:nvPr/>
        </p:nvSpPr>
        <p:spPr>
          <a:xfrm>
            <a:off x="13064162" y="2574681"/>
            <a:ext cx="498389" cy="0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Freeform 81" id="81"/>
          <p:cNvSpPr/>
          <p:nvPr/>
        </p:nvSpPr>
        <p:spPr>
          <a:xfrm flipH="false" flipV="false" rot="0">
            <a:off x="7574952" y="3573308"/>
            <a:ext cx="926361" cy="926455"/>
          </a:xfrm>
          <a:custGeom>
            <a:avLst/>
            <a:gdLst/>
            <a:ahLst/>
            <a:cxnLst/>
            <a:rect r="r" b="b" t="t" l="l"/>
            <a:pathLst>
              <a:path h="926455" w="926361">
                <a:moveTo>
                  <a:pt x="0" y="0"/>
                </a:moveTo>
                <a:lnTo>
                  <a:pt x="926361" y="0"/>
                </a:lnTo>
                <a:lnTo>
                  <a:pt x="926361" y="926455"/>
                </a:lnTo>
                <a:lnTo>
                  <a:pt x="0" y="92645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9076369" y="3586382"/>
            <a:ext cx="900308" cy="900308"/>
          </a:xfrm>
          <a:custGeom>
            <a:avLst/>
            <a:gdLst/>
            <a:ahLst/>
            <a:cxnLst/>
            <a:rect r="r" b="b" t="t" l="l"/>
            <a:pathLst>
              <a:path h="900308" w="900308">
                <a:moveTo>
                  <a:pt x="0" y="0"/>
                </a:moveTo>
                <a:lnTo>
                  <a:pt x="900307" y="0"/>
                </a:lnTo>
                <a:lnTo>
                  <a:pt x="900307" y="900308"/>
                </a:lnTo>
                <a:lnTo>
                  <a:pt x="0" y="900308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0551732" y="3716890"/>
            <a:ext cx="954848" cy="874160"/>
          </a:xfrm>
          <a:custGeom>
            <a:avLst/>
            <a:gdLst/>
            <a:ahLst/>
            <a:cxnLst/>
            <a:rect r="r" b="b" t="t" l="l"/>
            <a:pathLst>
              <a:path h="874160" w="954848">
                <a:moveTo>
                  <a:pt x="0" y="0"/>
                </a:moveTo>
                <a:lnTo>
                  <a:pt x="954848" y="0"/>
                </a:lnTo>
                <a:lnTo>
                  <a:pt x="954848" y="874160"/>
                </a:lnTo>
                <a:lnTo>
                  <a:pt x="0" y="87416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-923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11819731" y="3654078"/>
            <a:ext cx="1216608" cy="887477"/>
          </a:xfrm>
          <a:custGeom>
            <a:avLst/>
            <a:gdLst/>
            <a:ahLst/>
            <a:cxnLst/>
            <a:rect r="r" b="b" t="t" l="l"/>
            <a:pathLst>
              <a:path h="887477" w="1216608">
                <a:moveTo>
                  <a:pt x="0" y="0"/>
                </a:moveTo>
                <a:lnTo>
                  <a:pt x="1216608" y="0"/>
                </a:lnTo>
                <a:lnTo>
                  <a:pt x="1216608" y="887478"/>
                </a:lnTo>
                <a:lnTo>
                  <a:pt x="0" y="887478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-19115" r="0" b="-29228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13568987" y="3654078"/>
            <a:ext cx="1026560" cy="915170"/>
          </a:xfrm>
          <a:custGeom>
            <a:avLst/>
            <a:gdLst/>
            <a:ahLst/>
            <a:cxnLst/>
            <a:rect r="r" b="b" t="t" l="l"/>
            <a:pathLst>
              <a:path h="915170" w="1026560">
                <a:moveTo>
                  <a:pt x="0" y="0"/>
                </a:moveTo>
                <a:lnTo>
                  <a:pt x="1026560" y="0"/>
                </a:lnTo>
                <a:lnTo>
                  <a:pt x="1026560" y="915171"/>
                </a:lnTo>
                <a:lnTo>
                  <a:pt x="0" y="91517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-12171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16233847" y="3192463"/>
            <a:ext cx="1130015" cy="1048854"/>
          </a:xfrm>
          <a:custGeom>
            <a:avLst/>
            <a:gdLst/>
            <a:ahLst/>
            <a:cxnLst/>
            <a:rect r="r" b="b" t="t" l="l"/>
            <a:pathLst>
              <a:path h="1048854" w="1130015">
                <a:moveTo>
                  <a:pt x="0" y="0"/>
                </a:moveTo>
                <a:lnTo>
                  <a:pt x="1130015" y="0"/>
                </a:lnTo>
                <a:lnTo>
                  <a:pt x="1130015" y="1048854"/>
                </a:lnTo>
                <a:lnTo>
                  <a:pt x="0" y="10488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-7738"/>
            </a:stretch>
          </a:blipFill>
        </p:spPr>
      </p:sp>
      <p:sp>
        <p:nvSpPr>
          <p:cNvPr name="AutoShape 87" id="87"/>
          <p:cNvSpPr/>
          <p:nvPr/>
        </p:nvSpPr>
        <p:spPr>
          <a:xfrm>
            <a:off x="8501313" y="4036536"/>
            <a:ext cx="575056" cy="0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88" id="88"/>
          <p:cNvSpPr/>
          <p:nvPr/>
        </p:nvSpPr>
        <p:spPr>
          <a:xfrm>
            <a:off x="9976676" y="4078767"/>
            <a:ext cx="575056" cy="0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89" id="89"/>
          <p:cNvSpPr/>
          <p:nvPr/>
        </p:nvSpPr>
        <p:spPr>
          <a:xfrm>
            <a:off x="11500324" y="4036536"/>
            <a:ext cx="397835" cy="0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90" id="90"/>
          <p:cNvSpPr/>
          <p:nvPr/>
        </p:nvSpPr>
        <p:spPr>
          <a:xfrm flipV="true">
            <a:off x="12987495" y="4111664"/>
            <a:ext cx="581491" cy="5203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Freeform 91" id="91"/>
          <p:cNvSpPr/>
          <p:nvPr/>
        </p:nvSpPr>
        <p:spPr>
          <a:xfrm flipH="false" flipV="false" rot="0">
            <a:off x="15375134" y="2135510"/>
            <a:ext cx="995995" cy="921760"/>
          </a:xfrm>
          <a:custGeom>
            <a:avLst/>
            <a:gdLst/>
            <a:ahLst/>
            <a:cxnLst/>
            <a:rect r="r" b="b" t="t" l="l"/>
            <a:pathLst>
              <a:path h="921760" w="995995">
                <a:moveTo>
                  <a:pt x="0" y="0"/>
                </a:moveTo>
                <a:lnTo>
                  <a:pt x="995996" y="0"/>
                </a:lnTo>
                <a:lnTo>
                  <a:pt x="995996" y="921760"/>
                </a:lnTo>
                <a:lnTo>
                  <a:pt x="0" y="92176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-42026" t="-18905" r="-34371" b="-71698"/>
            </a:stretch>
          </a:blipFill>
        </p:spPr>
      </p:sp>
      <p:sp>
        <p:nvSpPr>
          <p:cNvPr name="AutoShape 92" id="92"/>
          <p:cNvSpPr/>
          <p:nvPr/>
        </p:nvSpPr>
        <p:spPr>
          <a:xfrm>
            <a:off x="14757691" y="2593731"/>
            <a:ext cx="617443" cy="2659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93" id="93"/>
          <p:cNvSpPr/>
          <p:nvPr/>
        </p:nvSpPr>
        <p:spPr>
          <a:xfrm flipV="true">
            <a:off x="14595547" y="3716890"/>
            <a:ext cx="1638300" cy="394774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AutoShape 94" id="94"/>
          <p:cNvSpPr/>
          <p:nvPr/>
        </p:nvSpPr>
        <p:spPr>
          <a:xfrm>
            <a:off x="15873132" y="3057270"/>
            <a:ext cx="209643" cy="659620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95" id="95"/>
          <p:cNvSpPr txBox="true"/>
          <p:nvPr/>
        </p:nvSpPr>
        <p:spPr>
          <a:xfrm rot="0">
            <a:off x="10628894" y="1789044"/>
            <a:ext cx="1441515" cy="44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7"/>
              </a:lnSpc>
            </a:pPr>
            <a:r>
              <a:rPr lang="en-US" b="true" sz="1299">
                <a:solidFill>
                  <a:srgbClr val="E46C0A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Hand Capture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2213284" y="1779519"/>
            <a:ext cx="1355703" cy="46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E46C0A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Extraction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3733681" y="1758777"/>
            <a:ext cx="1355703" cy="46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E46C0A"/>
                </a:solidFill>
                <a:latin typeface="Poppins Bold"/>
                <a:ea typeface="Poppins Bold"/>
                <a:cs typeface="Poppins Bold"/>
                <a:sym typeface="Poppins Bold"/>
              </a:rPr>
              <a:t>G</a:t>
            </a:r>
            <a:r>
              <a:rPr lang="en-US" b="true" sz="1299">
                <a:solidFill>
                  <a:srgbClr val="E46C0A"/>
                </a:solidFill>
                <a:latin typeface="Poppins Bold"/>
                <a:ea typeface="Poppins Bold"/>
                <a:cs typeface="Poppins Bold"/>
                <a:sym typeface="Poppins Bold"/>
              </a:rPr>
              <a:t>esture Classification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7678081" y="4569798"/>
            <a:ext cx="942775" cy="23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1A243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set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090489" y="4607581"/>
            <a:ext cx="1461243" cy="23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1A2430"/>
                </a:solidFill>
                <a:latin typeface="Poppins Bold"/>
                <a:ea typeface="Poppins Bold"/>
                <a:cs typeface="Poppins Bold"/>
                <a:sym typeface="Poppins Bold"/>
              </a:rPr>
              <a:t>Preprocessing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0734317" y="4616914"/>
            <a:ext cx="858424" cy="37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299">
                <a:solidFill>
                  <a:srgbClr val="1A2430"/>
                </a:solidFill>
                <a:latin typeface="Poppins Bold"/>
                <a:ea typeface="Poppins Bold"/>
                <a:cs typeface="Poppins Bold"/>
                <a:sym typeface="Poppins Bold"/>
              </a:rPr>
              <a:t> Model Training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829256" y="4597864"/>
            <a:ext cx="1434303" cy="43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b="true" sz="1299">
                <a:solidFill>
                  <a:srgbClr val="1A2430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&amp; Validation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3630002" y="4597864"/>
            <a:ext cx="1163557" cy="46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1A2430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 Optimization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5375134" y="1758777"/>
            <a:ext cx="1415282" cy="46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E46C0A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Output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5930438" y="4252200"/>
            <a:ext cx="2171624" cy="440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7"/>
              </a:lnSpc>
            </a:pPr>
            <a:r>
              <a:rPr lang="en-US" b="true" sz="1299">
                <a:solidFill>
                  <a:srgbClr val="1A2430"/>
                </a:solidFill>
                <a:latin typeface="Poppins Bold"/>
                <a:ea typeface="Poppins Bold"/>
                <a:cs typeface="Poppins Bold"/>
                <a:sym typeface="Poppins Bold"/>
              </a:rPr>
              <a:t>App Development &amp; </a:t>
            </a:r>
            <a:r>
              <a:rPr lang="en-US" b="true" sz="1299">
                <a:solidFill>
                  <a:srgbClr val="E46C0A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Integration</a:t>
            </a:r>
          </a:p>
        </p:txBody>
      </p:sp>
      <p:sp>
        <p:nvSpPr>
          <p:cNvPr name="AutoShape 105" id="105"/>
          <p:cNvSpPr/>
          <p:nvPr/>
        </p:nvSpPr>
        <p:spPr>
          <a:xfrm>
            <a:off x="15256081" y="8796054"/>
            <a:ext cx="1333787" cy="462246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  <p:sp>
        <p:nvSpPr>
          <p:cNvPr name="TextBox 106" id="106"/>
          <p:cNvSpPr txBox="true"/>
          <p:nvPr/>
        </p:nvSpPr>
        <p:spPr>
          <a:xfrm rot="-5400000">
            <a:off x="15474422" y="6984378"/>
            <a:ext cx="1499045" cy="3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1A24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Quiz</a:t>
            </a:r>
          </a:p>
        </p:txBody>
      </p:sp>
      <p:sp>
        <p:nvSpPr>
          <p:cNvPr name="TextBox 107" id="107"/>
          <p:cNvSpPr txBox="true"/>
          <p:nvPr/>
        </p:nvSpPr>
        <p:spPr>
          <a:xfrm rot="-5400000">
            <a:off x="15831362" y="8270690"/>
            <a:ext cx="1071236" cy="7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1A24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 Mirror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237256" y="7673531"/>
            <a:ext cx="4471440" cy="843970"/>
            <a:chOff x="0" y="0"/>
            <a:chExt cx="1656592" cy="312677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656592" cy="349790"/>
            </a:xfrm>
            <a:custGeom>
              <a:avLst/>
              <a:gdLst/>
              <a:ahLst/>
              <a:cxnLst/>
              <a:rect r="r" b="b" t="t" l="l"/>
              <a:pathLst>
                <a:path h="349790" w="1656592">
                  <a:moveTo>
                    <a:pt x="1623452" y="0"/>
                  </a:moveTo>
                  <a:lnTo>
                    <a:pt x="33140" y="0"/>
                  </a:lnTo>
                  <a:cubicBezTo>
                    <a:pt x="14837" y="0"/>
                    <a:pt x="0" y="14837"/>
                    <a:pt x="0" y="33140"/>
                  </a:cubicBezTo>
                  <a:lnTo>
                    <a:pt x="0" y="280490"/>
                  </a:lnTo>
                  <a:cubicBezTo>
                    <a:pt x="88117" y="304778"/>
                    <a:pt x="370089" y="349790"/>
                    <a:pt x="793048" y="280490"/>
                  </a:cubicBezTo>
                  <a:cubicBezTo>
                    <a:pt x="1216010" y="222195"/>
                    <a:pt x="1544978" y="256200"/>
                    <a:pt x="1656592" y="280490"/>
                  </a:cubicBezTo>
                  <a:lnTo>
                    <a:pt x="1656592" y="33140"/>
                  </a:lnTo>
                  <a:cubicBezTo>
                    <a:pt x="1656592" y="14837"/>
                    <a:pt x="1641755" y="0"/>
                    <a:pt x="16234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1656592" cy="293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Parents/Teachers' Role</a:t>
              </a:r>
            </a:p>
          </p:txBody>
        </p:sp>
      </p:grpSp>
      <p:sp>
        <p:nvSpPr>
          <p:cNvPr name="TextBox 111" id="111"/>
          <p:cNvSpPr txBox="true"/>
          <p:nvPr/>
        </p:nvSpPr>
        <p:spPr>
          <a:xfrm rot="0">
            <a:off x="420917" y="8586935"/>
            <a:ext cx="4954529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1A2430"/>
                </a:solidFill>
                <a:latin typeface="Poppins Bold"/>
                <a:ea typeface="Poppins Bold"/>
                <a:cs typeface="Poppins Bold"/>
                <a:sym typeface="Poppins Bold"/>
              </a:rPr>
              <a:t>Can track the child/students' Learning skills by ranking the rewards and showing the level they studeied.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0" y="9941212"/>
            <a:ext cx="18287998" cy="589657"/>
            <a:chOff x="0" y="0"/>
            <a:chExt cx="24383998" cy="78621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4384000" cy="786209"/>
            </a:xfrm>
            <a:custGeom>
              <a:avLst/>
              <a:gdLst/>
              <a:ahLst/>
              <a:cxnLst/>
              <a:rect r="r" b="b" t="t" l="l"/>
              <a:pathLst>
                <a:path h="7862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6209"/>
                  </a:lnTo>
                  <a:lnTo>
                    <a:pt x="0" y="786209"/>
                  </a:lnTo>
                  <a:close/>
                </a:path>
              </a:pathLst>
            </a:custGeom>
            <a:solidFill>
              <a:srgbClr val="E46C0A"/>
            </a:solidFill>
          </p:spPr>
        </p:sp>
      </p:grpSp>
      <p:sp>
        <p:nvSpPr>
          <p:cNvPr name="TextBox 114" id="114"/>
          <p:cNvSpPr txBox="true"/>
          <p:nvPr/>
        </p:nvSpPr>
        <p:spPr>
          <a:xfrm rot="0">
            <a:off x="515607" y="9826912"/>
            <a:ext cx="1898637" cy="46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NeoHack</a:t>
            </a:r>
          </a:p>
        </p:txBody>
      </p:sp>
      <p:grpSp>
        <p:nvGrpSpPr>
          <p:cNvPr name="Group 115" id="115"/>
          <p:cNvGrpSpPr/>
          <p:nvPr/>
        </p:nvGrpSpPr>
        <p:grpSpPr>
          <a:xfrm rot="0">
            <a:off x="6934200" y="9831103"/>
            <a:ext cx="4806000" cy="547688"/>
            <a:chOff x="0" y="0"/>
            <a:chExt cx="6408000" cy="73025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VIDYUT-SHRISTHI’25-idea submission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3106400" y="9840213"/>
            <a:ext cx="4267200" cy="547688"/>
            <a:chOff x="0" y="0"/>
            <a:chExt cx="5689600" cy="73025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AutoShape 121" id="121"/>
          <p:cNvSpPr/>
          <p:nvPr/>
        </p:nvSpPr>
        <p:spPr>
          <a:xfrm>
            <a:off x="8620856" y="7923864"/>
            <a:ext cx="456133" cy="5648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39330"/>
            <a:ext cx="18287998" cy="447670"/>
            <a:chOff x="0" y="0"/>
            <a:chExt cx="24383998" cy="5968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596893"/>
            </a:xfrm>
            <a:custGeom>
              <a:avLst/>
              <a:gdLst/>
              <a:ahLst/>
              <a:cxnLst/>
              <a:rect r="r" b="b" t="t" l="l"/>
              <a:pathLst>
                <a:path h="5968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96893"/>
                  </a:lnTo>
                  <a:lnTo>
                    <a:pt x="0" y="596893"/>
                  </a:lnTo>
                  <a:close/>
                </a:path>
              </a:pathLst>
            </a:custGeom>
            <a:solidFill>
              <a:srgbClr val="E46C0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68635" y="1091143"/>
            <a:ext cx="9396679" cy="978821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5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745233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34200" y="9779782"/>
            <a:ext cx="4806000" cy="547688"/>
            <a:chOff x="0" y="0"/>
            <a:chExt cx="64080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VIDYUT-SHRISTHI’25-idea submission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H="true" flipV="true">
            <a:off x="6049785" y="1788237"/>
            <a:ext cx="23041" cy="7746236"/>
          </a:xfrm>
          <a:prstGeom prst="line">
            <a:avLst/>
          </a:prstGeom>
          <a:ln cap="flat" w="38100">
            <a:solidFill>
              <a:srgbClr val="000000">
                <a:alpha val="4588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76040" y="83313"/>
            <a:ext cx="2846335" cy="476640"/>
            <a:chOff x="0" y="0"/>
            <a:chExt cx="6084270" cy="1018857"/>
          </a:xfrm>
        </p:grpSpPr>
        <p:sp>
          <p:nvSpPr>
            <p:cNvPr name="Freeform 15" id="15" descr="C:\Users\user\Downloads\WhatsApp Image 2025-09-25 at 09.00.17_f153e206.png"/>
            <p:cNvSpPr/>
            <p:nvPr/>
          </p:nvSpPr>
          <p:spPr>
            <a:xfrm flipH="false" flipV="false" rot="0">
              <a:off x="0" y="0"/>
              <a:ext cx="6084316" cy="1018903"/>
            </a:xfrm>
            <a:custGeom>
              <a:avLst/>
              <a:gdLst/>
              <a:ahLst/>
              <a:cxnLst/>
              <a:rect r="r" b="b" t="t" l="l"/>
              <a:pathLst>
                <a:path h="1018903" w="6084316">
                  <a:moveTo>
                    <a:pt x="0" y="0"/>
                  </a:moveTo>
                  <a:lnTo>
                    <a:pt x="6084316" y="0"/>
                  </a:lnTo>
                  <a:lnTo>
                    <a:pt x="6084316" y="1018903"/>
                  </a:lnTo>
                  <a:lnTo>
                    <a:pt x="0" y="1018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8576" r="0" b="-24857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356478" y="-61756"/>
            <a:ext cx="820994" cy="1199847"/>
            <a:chOff x="0" y="0"/>
            <a:chExt cx="1410132" cy="2060846"/>
          </a:xfrm>
        </p:grpSpPr>
        <p:sp>
          <p:nvSpPr>
            <p:cNvPr name="Freeform 17" id="17" descr="C:\Users\user\Downloads\images (1) (1).png"/>
            <p:cNvSpPr/>
            <p:nvPr/>
          </p:nvSpPr>
          <p:spPr>
            <a:xfrm flipH="false" flipV="false" rot="0">
              <a:off x="0" y="0"/>
              <a:ext cx="1410081" cy="2060895"/>
            </a:xfrm>
            <a:custGeom>
              <a:avLst/>
              <a:gdLst/>
              <a:ahLst/>
              <a:cxnLst/>
              <a:rect r="r" b="b" t="t" l="l"/>
              <a:pathLst>
                <a:path h="2060895" w="1410081">
                  <a:moveTo>
                    <a:pt x="0" y="0"/>
                  </a:moveTo>
                  <a:lnTo>
                    <a:pt x="1410081" y="0"/>
                  </a:lnTo>
                  <a:lnTo>
                    <a:pt x="1410081" y="2060895"/>
                  </a:lnTo>
                  <a:lnTo>
                    <a:pt x="0" y="2060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553" r="-3" b="-755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717796" y="28764"/>
            <a:ext cx="1570204" cy="1062380"/>
            <a:chOff x="0" y="0"/>
            <a:chExt cx="2884858" cy="1951858"/>
          </a:xfrm>
        </p:grpSpPr>
        <p:sp>
          <p:nvSpPr>
            <p:cNvPr name="Freeform 19" id="19" descr="C:\Users\user\Downloads\WhatsApp Image 2025-09-25 at 09.00.18_33ed60e3.png"/>
            <p:cNvSpPr/>
            <p:nvPr/>
          </p:nvSpPr>
          <p:spPr>
            <a:xfrm flipH="false" flipV="false" rot="0">
              <a:off x="0" y="0"/>
              <a:ext cx="2884805" cy="1951822"/>
            </a:xfrm>
            <a:custGeom>
              <a:avLst/>
              <a:gdLst/>
              <a:ahLst/>
              <a:cxnLst/>
              <a:rect r="r" b="b" t="t" l="l"/>
              <a:pathLst>
                <a:path h="1951822" w="2884805">
                  <a:moveTo>
                    <a:pt x="0" y="0"/>
                  </a:moveTo>
                  <a:lnTo>
                    <a:pt x="2884805" y="0"/>
                  </a:lnTo>
                  <a:lnTo>
                    <a:pt x="2884805" y="1951822"/>
                  </a:lnTo>
                  <a:lnTo>
                    <a:pt x="0" y="1951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3900" r="-1" b="-23903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4635825" y="4318452"/>
            <a:ext cx="1279967" cy="1183729"/>
          </a:xfrm>
          <a:custGeom>
            <a:avLst/>
            <a:gdLst/>
            <a:ahLst/>
            <a:cxnLst/>
            <a:rect r="r" b="b" t="t" l="l"/>
            <a:pathLst>
              <a:path h="1183729" w="1279967">
                <a:moveTo>
                  <a:pt x="0" y="0"/>
                </a:moveTo>
                <a:lnTo>
                  <a:pt x="1279967" y="0"/>
                </a:lnTo>
                <a:lnTo>
                  <a:pt x="1279967" y="1183729"/>
                </a:lnTo>
                <a:lnTo>
                  <a:pt x="0" y="11837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481" t="-15163" r="-12782" b="-20285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42910" y="2900230"/>
            <a:ext cx="1378025" cy="1378025"/>
          </a:xfrm>
          <a:custGeom>
            <a:avLst/>
            <a:gdLst/>
            <a:ahLst/>
            <a:cxnLst/>
            <a:rect r="r" b="b" t="t" l="l"/>
            <a:pathLst>
              <a:path h="1378025" w="1378025">
                <a:moveTo>
                  <a:pt x="0" y="0"/>
                </a:moveTo>
                <a:lnTo>
                  <a:pt x="1378025" y="0"/>
                </a:lnTo>
                <a:lnTo>
                  <a:pt x="1378025" y="1378026"/>
                </a:lnTo>
                <a:lnTo>
                  <a:pt x="0" y="13780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18709" y="6406592"/>
            <a:ext cx="1683258" cy="1701070"/>
          </a:xfrm>
          <a:custGeom>
            <a:avLst/>
            <a:gdLst/>
            <a:ahLst/>
            <a:cxnLst/>
            <a:rect r="r" b="b" t="t" l="l"/>
            <a:pathLst>
              <a:path h="1701070" w="1683258">
                <a:moveTo>
                  <a:pt x="0" y="0"/>
                </a:moveTo>
                <a:lnTo>
                  <a:pt x="1683258" y="0"/>
                </a:lnTo>
                <a:lnTo>
                  <a:pt x="1683258" y="1701071"/>
                </a:lnTo>
                <a:lnTo>
                  <a:pt x="0" y="17010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153" t="-14184" r="-12989" b="-21305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678292" y="8060461"/>
            <a:ext cx="1175983" cy="1175983"/>
          </a:xfrm>
          <a:custGeom>
            <a:avLst/>
            <a:gdLst/>
            <a:ahLst/>
            <a:cxnLst/>
            <a:rect r="r" b="b" t="t" l="l"/>
            <a:pathLst>
              <a:path h="1175983" w="1175983">
                <a:moveTo>
                  <a:pt x="0" y="0"/>
                </a:moveTo>
                <a:lnTo>
                  <a:pt x="1175983" y="0"/>
                </a:lnTo>
                <a:lnTo>
                  <a:pt x="1175983" y="1175984"/>
                </a:lnTo>
                <a:lnTo>
                  <a:pt x="0" y="11759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 flipH="true" flipV="true">
            <a:off x="12580294" y="1778712"/>
            <a:ext cx="23041" cy="7746236"/>
          </a:xfrm>
          <a:prstGeom prst="line">
            <a:avLst/>
          </a:prstGeom>
          <a:ln cap="flat" w="38100">
            <a:solidFill>
              <a:srgbClr val="000000">
                <a:alpha val="4588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6225226" y="3632053"/>
            <a:ext cx="1626853" cy="1454297"/>
          </a:xfrm>
          <a:custGeom>
            <a:avLst/>
            <a:gdLst/>
            <a:ahLst/>
            <a:cxnLst/>
            <a:rect r="r" b="b" t="t" l="l"/>
            <a:pathLst>
              <a:path h="1454297" w="1626853">
                <a:moveTo>
                  <a:pt x="0" y="0"/>
                </a:moveTo>
                <a:lnTo>
                  <a:pt x="1626854" y="0"/>
                </a:lnTo>
                <a:lnTo>
                  <a:pt x="1626854" y="1454297"/>
                </a:lnTo>
                <a:lnTo>
                  <a:pt x="0" y="14542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8586" t="-19913" r="-41982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664523" y="5502181"/>
            <a:ext cx="1819618" cy="1819618"/>
          </a:xfrm>
          <a:custGeom>
            <a:avLst/>
            <a:gdLst/>
            <a:ahLst/>
            <a:cxnLst/>
            <a:rect r="r" b="b" t="t" l="l"/>
            <a:pathLst>
              <a:path h="1819618" w="1819618">
                <a:moveTo>
                  <a:pt x="0" y="0"/>
                </a:moveTo>
                <a:lnTo>
                  <a:pt x="1819619" y="0"/>
                </a:lnTo>
                <a:lnTo>
                  <a:pt x="1819619" y="1819618"/>
                </a:lnTo>
                <a:lnTo>
                  <a:pt x="0" y="18196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187126" y="7707840"/>
            <a:ext cx="1693528" cy="1412339"/>
          </a:xfrm>
          <a:custGeom>
            <a:avLst/>
            <a:gdLst/>
            <a:ahLst/>
            <a:cxnLst/>
            <a:rect r="r" b="b" t="t" l="l"/>
            <a:pathLst>
              <a:path h="1412339" w="1693528">
                <a:moveTo>
                  <a:pt x="0" y="0"/>
                </a:moveTo>
                <a:lnTo>
                  <a:pt x="1693529" y="0"/>
                </a:lnTo>
                <a:lnTo>
                  <a:pt x="1693529" y="1412339"/>
                </a:lnTo>
                <a:lnTo>
                  <a:pt x="0" y="14123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9794" t="-3661" r="-11228" b="-13435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717796" y="6998167"/>
            <a:ext cx="1347921" cy="1347921"/>
          </a:xfrm>
          <a:custGeom>
            <a:avLst/>
            <a:gdLst/>
            <a:ahLst/>
            <a:cxnLst/>
            <a:rect r="r" b="b" t="t" l="l"/>
            <a:pathLst>
              <a:path h="1347921" w="1347921">
                <a:moveTo>
                  <a:pt x="0" y="0"/>
                </a:moveTo>
                <a:lnTo>
                  <a:pt x="1347921" y="0"/>
                </a:lnTo>
                <a:lnTo>
                  <a:pt x="1347921" y="1347921"/>
                </a:lnTo>
                <a:lnTo>
                  <a:pt x="0" y="134792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603335" y="5740172"/>
            <a:ext cx="1220363" cy="1220363"/>
          </a:xfrm>
          <a:custGeom>
            <a:avLst/>
            <a:gdLst/>
            <a:ahLst/>
            <a:cxnLst/>
            <a:rect r="r" b="b" t="t" l="l"/>
            <a:pathLst>
              <a:path h="1220363" w="1220363">
                <a:moveTo>
                  <a:pt x="0" y="0"/>
                </a:moveTo>
                <a:lnTo>
                  <a:pt x="1220364" y="0"/>
                </a:lnTo>
                <a:lnTo>
                  <a:pt x="1220364" y="1220364"/>
                </a:lnTo>
                <a:lnTo>
                  <a:pt x="0" y="122036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731222" y="3232388"/>
            <a:ext cx="1467152" cy="1412708"/>
          </a:xfrm>
          <a:custGeom>
            <a:avLst/>
            <a:gdLst/>
            <a:ahLst/>
            <a:cxnLst/>
            <a:rect r="r" b="b" t="t" l="l"/>
            <a:pathLst>
              <a:path h="1412708" w="1467152">
                <a:moveTo>
                  <a:pt x="0" y="0"/>
                </a:moveTo>
                <a:lnTo>
                  <a:pt x="1467152" y="0"/>
                </a:lnTo>
                <a:lnTo>
                  <a:pt x="1467152" y="1412709"/>
                </a:lnTo>
                <a:lnTo>
                  <a:pt x="0" y="141270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1359" t="-18125" r="-222824" b="-19715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15607" y="9801243"/>
            <a:ext cx="1898637" cy="46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NeoHack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9650" y="1786766"/>
            <a:ext cx="3752009" cy="45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b="true" sz="2599">
                <a:solidFill>
                  <a:srgbClr val="4A7EBB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 of Feasibility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39985" y="2964613"/>
            <a:ext cx="4451891" cy="116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Real-time ISL gesture recognition via MediaPipe + DNN on mobile/edge devices.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-9184" y="2476044"/>
            <a:ext cx="3614832" cy="37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  <a:spcBef>
                <a:spcPct val="0"/>
              </a:spcBef>
            </a:pPr>
            <a:r>
              <a:rPr lang="en-US" b="true" sz="2139">
                <a:solidFill>
                  <a:srgbClr val="4A7EBB"/>
                </a:solidFill>
                <a:latin typeface="Poppins Bold"/>
                <a:ea typeface="Poppins Bold"/>
                <a:cs typeface="Poppins Bold"/>
                <a:sym typeface="Poppins Bold"/>
              </a:rPr>
              <a:t>Model Complexity: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3463" y="4270827"/>
            <a:ext cx="3777823" cy="37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  <a:spcBef>
                <a:spcPct val="0"/>
              </a:spcBef>
            </a:pPr>
            <a:r>
              <a:rPr lang="en-US" b="true" sz="2139">
                <a:solidFill>
                  <a:srgbClr val="4A7EBB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Integration Capability: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7417" y="4697801"/>
            <a:ext cx="4685619" cy="116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Smooth deployment on Android/iOS using React Native and efficient camera-stream APIs.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040" y="6067970"/>
            <a:ext cx="3444384" cy="37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  <a:spcBef>
                <a:spcPct val="0"/>
              </a:spcBef>
            </a:pPr>
            <a:r>
              <a:rPr lang="en-US" b="true" sz="2139">
                <a:solidFill>
                  <a:srgbClr val="4A7EBB"/>
                </a:solidFill>
                <a:latin typeface="Poppins Bold"/>
                <a:ea typeface="Poppins Bold"/>
                <a:cs typeface="Poppins Bold"/>
                <a:sym typeface="Poppins Bold"/>
              </a:rPr>
              <a:t>Data Availability: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82449" y="6601443"/>
            <a:ext cx="4333343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Custom ISL dataset collected from peers ensures consistency and real-time accuracy.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7454" y="7882428"/>
            <a:ext cx="3236402" cy="37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  <a:spcBef>
                <a:spcPct val="0"/>
              </a:spcBef>
            </a:pPr>
            <a:r>
              <a:rPr lang="en-US" b="true" sz="2139">
                <a:solidFill>
                  <a:srgbClr val="4A7EBB"/>
                </a:solidFill>
                <a:latin typeface="Poppins Bold"/>
                <a:ea typeface="Poppins Bold"/>
                <a:cs typeface="Poppins Bold"/>
                <a:sym typeface="Poppins Bold"/>
              </a:rPr>
              <a:t>Server Deployment: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71485" y="8279413"/>
            <a:ext cx="4336439" cy="116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Optimized .h5 model for high-performance processing on servers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736682" y="1807699"/>
            <a:ext cx="5416377" cy="45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b="true" sz="2599">
                <a:solidFill>
                  <a:srgbClr val="4A7EBB"/>
                </a:solidFill>
                <a:latin typeface="Poppins Bold"/>
                <a:ea typeface="Poppins Bold"/>
                <a:cs typeface="Poppins Bold"/>
                <a:sym typeface="Poppins Bold"/>
              </a:rPr>
              <a:t>Potential Challenges &amp; Risks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091876" y="2919280"/>
            <a:ext cx="3614832" cy="37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  <a:spcBef>
                <a:spcPct val="0"/>
              </a:spcBef>
            </a:pPr>
            <a:r>
              <a:rPr lang="en-US" b="true" sz="2139">
                <a:solidFill>
                  <a:srgbClr val="4A7EBB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Limitation: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899292" y="3722495"/>
            <a:ext cx="4692523" cy="116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Lack of large, diverse ISL datasets affects model accuracy; custom datasets are crucial.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462265" y="5744872"/>
            <a:ext cx="4685619" cy="116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Differences in hand size, speed, lighting, and ability require adaptive learning.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424165" y="7209502"/>
            <a:ext cx="3444384" cy="37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  <a:spcBef>
                <a:spcPct val="0"/>
              </a:spcBef>
            </a:pPr>
            <a:r>
              <a:rPr lang="en-US" b="true" sz="2139">
                <a:solidFill>
                  <a:srgbClr val="4A7EBB"/>
                </a:solidFill>
                <a:latin typeface="Poppins Bold"/>
                <a:ea typeface="Poppins Bold"/>
                <a:cs typeface="Poppins Bold"/>
                <a:sym typeface="Poppins Bold"/>
              </a:rPr>
              <a:t>Multilingual Text: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899292" y="7794616"/>
            <a:ext cx="4692523" cy="116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Translating gestures to English requires clear and educationally suitable hand signs.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255089" y="5114925"/>
            <a:ext cx="4319244" cy="37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  <a:spcBef>
                <a:spcPct val="0"/>
              </a:spcBef>
            </a:pPr>
            <a:r>
              <a:rPr lang="en-US" b="true" sz="2139">
                <a:solidFill>
                  <a:srgbClr val="4A7EBB"/>
                </a:solidFill>
                <a:latin typeface="Poppins Bold"/>
                <a:ea typeface="Poppins Bold"/>
                <a:cs typeface="Poppins Bold"/>
                <a:sym typeface="Poppins Bold"/>
              </a:rPr>
              <a:t>Variability in User Gestures: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827906" y="1753756"/>
            <a:ext cx="5460094" cy="91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b="true" sz="2599">
                <a:solidFill>
                  <a:srgbClr val="4A7EBB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Strategies for overcoming these challenges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98417" y="2919280"/>
            <a:ext cx="3614832" cy="37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  <a:spcBef>
                <a:spcPct val="0"/>
              </a:spcBef>
            </a:pPr>
            <a:r>
              <a:rPr lang="en-US" b="true" sz="2139">
                <a:solidFill>
                  <a:srgbClr val="4A7EBB"/>
                </a:solidFill>
                <a:latin typeface="Poppins Bold"/>
                <a:ea typeface="Poppins Bold"/>
                <a:cs typeface="Poppins Bold"/>
                <a:sym typeface="Poppins Bold"/>
              </a:rPr>
              <a:t>Custom ISL Dataset: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779179" y="3532486"/>
            <a:ext cx="4284567" cy="1553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Collaborate with ISLRTC &amp; deaf institutions; use diverse gestures, lighting, hand types, and data augmentation.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612985" y="5273485"/>
            <a:ext cx="4319244" cy="37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  <a:spcBef>
                <a:spcPct val="0"/>
              </a:spcBef>
            </a:pPr>
            <a:r>
              <a:rPr lang="en-US" b="true" sz="2139">
                <a:solidFill>
                  <a:srgbClr val="4A7EBB"/>
                </a:solidFill>
                <a:latin typeface="Poppins Bold"/>
                <a:ea typeface="Poppins Bold"/>
                <a:cs typeface="Poppins Bold"/>
                <a:sym typeface="Poppins Bold"/>
              </a:rPr>
              <a:t>Multilingual Sign-to-Text: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790950" y="5813516"/>
            <a:ext cx="4331917" cy="116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Support English &amp; Gujarati with real-time transliteration and language switching.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660485" y="7264649"/>
            <a:ext cx="3444384" cy="37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  <a:spcBef>
                <a:spcPct val="0"/>
              </a:spcBef>
            </a:pPr>
            <a:r>
              <a:rPr lang="en-US" b="true" sz="2139">
                <a:solidFill>
                  <a:srgbClr val="4A7EBB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Continuous Learning: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827906" y="7896093"/>
            <a:ext cx="4685619" cy="116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Enable user-driven model updates, over-the-air refreshes, and training on custom gestures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933389"/>
            <a:ext cx="18287998" cy="754857"/>
            <a:chOff x="0" y="0"/>
            <a:chExt cx="24383998" cy="100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E46C0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40999" y="9856808"/>
            <a:ext cx="4806000" cy="547688"/>
            <a:chOff x="0" y="0"/>
            <a:chExt cx="64080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VIDYUT-SHRISTHI’25-idea submission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50703" y="1260354"/>
            <a:ext cx="9265734" cy="4534379"/>
            <a:chOff x="0" y="0"/>
            <a:chExt cx="12354311" cy="604583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158710" y="211185"/>
              <a:ext cx="3633823" cy="5421142"/>
              <a:chOff x="0" y="0"/>
              <a:chExt cx="717792" cy="107084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17792" cy="1070843"/>
              </a:xfrm>
              <a:custGeom>
                <a:avLst/>
                <a:gdLst/>
                <a:ahLst/>
                <a:cxnLst/>
                <a:rect r="r" b="b" t="t" l="l"/>
                <a:pathLst>
                  <a:path h="1070843" w="717792">
                    <a:moveTo>
                      <a:pt x="88061" y="0"/>
                    </a:moveTo>
                    <a:lnTo>
                      <a:pt x="629731" y="0"/>
                    </a:lnTo>
                    <a:cubicBezTo>
                      <a:pt x="653086" y="0"/>
                      <a:pt x="675485" y="9278"/>
                      <a:pt x="692000" y="25793"/>
                    </a:cubicBezTo>
                    <a:cubicBezTo>
                      <a:pt x="708514" y="42307"/>
                      <a:pt x="717792" y="64706"/>
                      <a:pt x="717792" y="88061"/>
                    </a:cubicBezTo>
                    <a:lnTo>
                      <a:pt x="717792" y="982781"/>
                    </a:lnTo>
                    <a:cubicBezTo>
                      <a:pt x="717792" y="1006137"/>
                      <a:pt x="708514" y="1028535"/>
                      <a:pt x="692000" y="1045050"/>
                    </a:cubicBezTo>
                    <a:cubicBezTo>
                      <a:pt x="675485" y="1061565"/>
                      <a:pt x="653086" y="1070843"/>
                      <a:pt x="629731" y="1070843"/>
                    </a:cubicBezTo>
                    <a:lnTo>
                      <a:pt x="88061" y="1070843"/>
                    </a:lnTo>
                    <a:cubicBezTo>
                      <a:pt x="64706" y="1070843"/>
                      <a:pt x="42307" y="1061565"/>
                      <a:pt x="25793" y="1045050"/>
                    </a:cubicBezTo>
                    <a:cubicBezTo>
                      <a:pt x="9278" y="1028535"/>
                      <a:pt x="0" y="1006137"/>
                      <a:pt x="0" y="982781"/>
                    </a:cubicBezTo>
                    <a:lnTo>
                      <a:pt x="0" y="88061"/>
                    </a:lnTo>
                    <a:cubicBezTo>
                      <a:pt x="0" y="64706"/>
                      <a:pt x="9278" y="42307"/>
                      <a:pt x="25793" y="25793"/>
                    </a:cubicBezTo>
                    <a:cubicBezTo>
                      <a:pt x="42307" y="9278"/>
                      <a:pt x="64706" y="0"/>
                      <a:pt x="88061" y="0"/>
                    </a:cubicBezTo>
                    <a:close/>
                  </a:path>
                </a:pathLst>
              </a:custGeom>
              <a:solidFill>
                <a:srgbClr val="DCE6F2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717792" cy="11279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5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4335463" y="211185"/>
              <a:ext cx="3744448" cy="5421142"/>
              <a:chOff x="0" y="0"/>
              <a:chExt cx="739644" cy="107084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39644" cy="1070843"/>
              </a:xfrm>
              <a:custGeom>
                <a:avLst/>
                <a:gdLst/>
                <a:ahLst/>
                <a:cxnLst/>
                <a:rect r="r" b="b" t="t" l="l"/>
                <a:pathLst>
                  <a:path h="1070843" w="739644">
                    <a:moveTo>
                      <a:pt x="85460" y="0"/>
                    </a:moveTo>
                    <a:lnTo>
                      <a:pt x="654184" y="0"/>
                    </a:lnTo>
                    <a:cubicBezTo>
                      <a:pt x="701383" y="0"/>
                      <a:pt x="739644" y="38262"/>
                      <a:pt x="739644" y="85460"/>
                    </a:cubicBezTo>
                    <a:lnTo>
                      <a:pt x="739644" y="985383"/>
                    </a:lnTo>
                    <a:cubicBezTo>
                      <a:pt x="739644" y="1032581"/>
                      <a:pt x="701383" y="1070843"/>
                      <a:pt x="654184" y="1070843"/>
                    </a:cubicBezTo>
                    <a:lnTo>
                      <a:pt x="85460" y="1070843"/>
                    </a:lnTo>
                    <a:cubicBezTo>
                      <a:pt x="38262" y="1070843"/>
                      <a:pt x="0" y="1032581"/>
                      <a:pt x="0" y="985383"/>
                    </a:cubicBezTo>
                    <a:lnTo>
                      <a:pt x="0" y="85460"/>
                    </a:lnTo>
                    <a:cubicBezTo>
                      <a:pt x="0" y="38262"/>
                      <a:pt x="38262" y="0"/>
                      <a:pt x="85460" y="0"/>
                    </a:cubicBezTo>
                    <a:close/>
                  </a:path>
                </a:pathLst>
              </a:custGeom>
              <a:solidFill>
                <a:srgbClr val="DCE6F2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739644" cy="11279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5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217796" y="447685"/>
              <a:ext cx="1208957" cy="1199890"/>
            </a:xfrm>
            <a:custGeom>
              <a:avLst/>
              <a:gdLst/>
              <a:ahLst/>
              <a:cxnLst/>
              <a:rect r="r" b="b" t="t" l="l"/>
              <a:pathLst>
                <a:path h="1199890" w="1208957">
                  <a:moveTo>
                    <a:pt x="0" y="0"/>
                  </a:moveTo>
                  <a:lnTo>
                    <a:pt x="1208957" y="0"/>
                  </a:lnTo>
                  <a:lnTo>
                    <a:pt x="1208957" y="1199890"/>
                  </a:lnTo>
                  <a:lnTo>
                    <a:pt x="0" y="1199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231373" y="303583"/>
              <a:ext cx="1587137" cy="1617464"/>
            </a:xfrm>
            <a:custGeom>
              <a:avLst/>
              <a:gdLst/>
              <a:ahLst/>
              <a:cxnLst/>
              <a:rect r="r" b="b" t="t" l="l"/>
              <a:pathLst>
                <a:path h="1617464" w="1587137">
                  <a:moveTo>
                    <a:pt x="0" y="0"/>
                  </a:moveTo>
                  <a:lnTo>
                    <a:pt x="1587137" y="0"/>
                  </a:lnTo>
                  <a:lnTo>
                    <a:pt x="1587137" y="1617465"/>
                  </a:lnTo>
                  <a:lnTo>
                    <a:pt x="0" y="1617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351697" y="2258360"/>
              <a:ext cx="3183666" cy="3297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gesture recognition helps deaf and mute users learn ISL independently, giving instant feedback to boost confidence and memory.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629728" y="2258360"/>
              <a:ext cx="2804594" cy="3297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Inclusive tools help families and educators connect in ISL, improving daily communication and emotional bonds.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1697" y="1768225"/>
              <a:ext cx="3440836" cy="393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0"/>
                </a:lnSpc>
              </a:pPr>
              <a:r>
                <a:rPr lang="en-US" b="true" sz="17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Empowered Learning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335463" y="5594227"/>
              <a:ext cx="3378957" cy="451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5"/>
                </a:lnSpc>
                <a:spcBef>
                  <a:spcPct val="0"/>
                </a:spcBef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513483" y="1863898"/>
              <a:ext cx="3022918" cy="393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b="true" sz="17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Strengthened Bonds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8626011" y="211185"/>
              <a:ext cx="3547691" cy="5627898"/>
              <a:chOff x="0" y="0"/>
              <a:chExt cx="700779" cy="111168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00779" cy="1111684"/>
              </a:xfrm>
              <a:custGeom>
                <a:avLst/>
                <a:gdLst/>
                <a:ahLst/>
                <a:cxnLst/>
                <a:rect r="r" b="b" t="t" l="l"/>
                <a:pathLst>
                  <a:path h="1111684" w="700779">
                    <a:moveTo>
                      <a:pt x="90199" y="0"/>
                    </a:moveTo>
                    <a:lnTo>
                      <a:pt x="610579" y="0"/>
                    </a:lnTo>
                    <a:cubicBezTo>
                      <a:pt x="660395" y="0"/>
                      <a:pt x="700779" y="40384"/>
                      <a:pt x="700779" y="90199"/>
                    </a:cubicBezTo>
                    <a:lnTo>
                      <a:pt x="700779" y="1021484"/>
                    </a:lnTo>
                    <a:cubicBezTo>
                      <a:pt x="700779" y="1071300"/>
                      <a:pt x="660395" y="1111684"/>
                      <a:pt x="610579" y="1111684"/>
                    </a:cubicBezTo>
                    <a:lnTo>
                      <a:pt x="90199" y="1111684"/>
                    </a:lnTo>
                    <a:cubicBezTo>
                      <a:pt x="66277" y="1111684"/>
                      <a:pt x="43334" y="1102180"/>
                      <a:pt x="26419" y="1085265"/>
                    </a:cubicBezTo>
                    <a:cubicBezTo>
                      <a:pt x="9503" y="1068349"/>
                      <a:pt x="0" y="1045407"/>
                      <a:pt x="0" y="1021484"/>
                    </a:cubicBezTo>
                    <a:lnTo>
                      <a:pt x="0" y="90199"/>
                    </a:lnTo>
                    <a:cubicBezTo>
                      <a:pt x="0" y="40384"/>
                      <a:pt x="40384" y="0"/>
                      <a:pt x="90199" y="0"/>
                    </a:cubicBezTo>
                    <a:close/>
                  </a:path>
                </a:pathLst>
              </a:custGeom>
              <a:solidFill>
                <a:srgbClr val="DCE6F2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700779" cy="11688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5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9433533" y="389864"/>
              <a:ext cx="1763914" cy="1565474"/>
            </a:xfrm>
            <a:custGeom>
              <a:avLst/>
              <a:gdLst/>
              <a:ahLst/>
              <a:cxnLst/>
              <a:rect r="r" b="b" t="t" l="l"/>
              <a:pathLst>
                <a:path h="1565474" w="1763914">
                  <a:moveTo>
                    <a:pt x="0" y="0"/>
                  </a:moveTo>
                  <a:lnTo>
                    <a:pt x="1763914" y="0"/>
                  </a:lnTo>
                  <a:lnTo>
                    <a:pt x="1763914" y="1565474"/>
                  </a:lnTo>
                  <a:lnTo>
                    <a:pt x="0" y="1565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8812062" y="2685164"/>
              <a:ext cx="3109282" cy="2827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Multilingual output ensures a wider audience. It connects signers and non-signers in various communities.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895687" y="1987088"/>
              <a:ext cx="2682081" cy="393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b="true" sz="17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Social Connection</a:t>
              </a:r>
            </a:p>
          </p:txBody>
        </p:sp>
        <p:sp>
          <p:nvSpPr>
            <p:cNvPr name="AutoShape 27" id="27"/>
            <p:cNvSpPr/>
            <p:nvPr/>
          </p:nvSpPr>
          <p:spPr>
            <a:xfrm>
              <a:off x="25400" y="5839083"/>
              <a:ext cx="12303511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984627" y="1258570"/>
            <a:ext cx="8280013" cy="6185913"/>
            <a:chOff x="0" y="0"/>
            <a:chExt cx="11040018" cy="8247884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83716"/>
              <a:ext cx="4777059" cy="4777059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D4B7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5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1634398" y="231503"/>
              <a:ext cx="1508263" cy="1508263"/>
            </a:xfrm>
            <a:custGeom>
              <a:avLst/>
              <a:gdLst/>
              <a:ahLst/>
              <a:cxnLst/>
              <a:rect r="r" b="b" t="t" l="l"/>
              <a:pathLst>
                <a:path h="1508263" w="1508263">
                  <a:moveTo>
                    <a:pt x="0" y="0"/>
                  </a:moveTo>
                  <a:lnTo>
                    <a:pt x="1508263" y="0"/>
                  </a:lnTo>
                  <a:lnTo>
                    <a:pt x="1508263" y="1508263"/>
                  </a:lnTo>
                  <a:lnTo>
                    <a:pt x="0" y="1508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698419" y="2540718"/>
              <a:ext cx="3734159" cy="1308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8"/>
                </a:lnSpc>
              </a:pPr>
              <a:r>
                <a:rPr lang="en-US" b="true" sz="18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i</a:t>
              </a:r>
              <a:r>
                <a:rPr lang="en-US" sz="18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 helps deaf and mute users express themselves clearly to others.</a:t>
              </a: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3142661" y="3470825"/>
              <a:ext cx="4777059" cy="4777059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D4B7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5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4621602" y="3839581"/>
              <a:ext cx="1819178" cy="1400767"/>
            </a:xfrm>
            <a:custGeom>
              <a:avLst/>
              <a:gdLst/>
              <a:ahLst/>
              <a:cxnLst/>
              <a:rect r="r" b="b" t="t" l="l"/>
              <a:pathLst>
                <a:path h="1400767" w="1819178">
                  <a:moveTo>
                    <a:pt x="0" y="0"/>
                  </a:moveTo>
                  <a:lnTo>
                    <a:pt x="1819177" y="0"/>
                  </a:lnTo>
                  <a:lnTo>
                    <a:pt x="1819177" y="1400767"/>
                  </a:lnTo>
                  <a:lnTo>
                    <a:pt x="0" y="1400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8" id="38"/>
            <p:cNvGrpSpPr/>
            <p:nvPr/>
          </p:nvGrpSpPr>
          <p:grpSpPr>
            <a:xfrm rot="0">
              <a:off x="6262959" y="0"/>
              <a:ext cx="4777059" cy="4777059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D4B7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5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8107162" y="190700"/>
              <a:ext cx="1280681" cy="1832818"/>
            </a:xfrm>
            <a:custGeom>
              <a:avLst/>
              <a:gdLst/>
              <a:ahLst/>
              <a:cxnLst/>
              <a:rect r="r" b="b" t="t" l="l"/>
              <a:pathLst>
                <a:path h="1832818" w="1280681">
                  <a:moveTo>
                    <a:pt x="0" y="0"/>
                  </a:moveTo>
                  <a:lnTo>
                    <a:pt x="1280681" y="0"/>
                  </a:lnTo>
                  <a:lnTo>
                    <a:pt x="1280681" y="1832818"/>
                  </a:lnTo>
                  <a:lnTo>
                    <a:pt x="0" y="1832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518973" y="1699766"/>
              <a:ext cx="3739112" cy="7869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b="true" sz="17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Bridges Communication Gap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616403" y="5726005"/>
              <a:ext cx="4038413" cy="1532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4"/>
                </a:lnSpc>
              </a:pPr>
              <a:r>
                <a:rPr lang="en-US" sz="16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6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 works with many regional Indian languages, allowing more people to use it comfortably. 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032080" y="5206529"/>
              <a:ext cx="4998221" cy="417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76"/>
                </a:lnSpc>
                <a:spcBef>
                  <a:spcPct val="0"/>
                </a:spcBef>
              </a:pPr>
              <a:r>
                <a:rPr lang="en-US" b="true" sz="184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Supports Indian Languages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7139279" y="2484990"/>
              <a:ext cx="3646310" cy="1400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5"/>
                </a:lnSpc>
              </a:pPr>
              <a:r>
                <a:rPr lang="en-US" sz="1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 runs smoothly on Android and iOS through React Native (Expo).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7183815" y="2079920"/>
              <a:ext cx="3127375" cy="415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Mobile and Portable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27333" y="6506368"/>
            <a:ext cx="551506" cy="551506"/>
          </a:xfrm>
          <a:custGeom>
            <a:avLst/>
            <a:gdLst/>
            <a:ahLst/>
            <a:cxnLst/>
            <a:rect r="r" b="b" t="t" l="l"/>
            <a:pathLst>
              <a:path h="551506" w="551506">
                <a:moveTo>
                  <a:pt x="0" y="0"/>
                </a:moveTo>
                <a:lnTo>
                  <a:pt x="551506" y="0"/>
                </a:lnTo>
                <a:lnTo>
                  <a:pt x="551506" y="551505"/>
                </a:lnTo>
                <a:lnTo>
                  <a:pt x="0" y="5515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76639" y="7191223"/>
            <a:ext cx="602200" cy="602200"/>
          </a:xfrm>
          <a:custGeom>
            <a:avLst/>
            <a:gdLst/>
            <a:ahLst/>
            <a:cxnLst/>
            <a:rect r="r" b="b" t="t" l="l"/>
            <a:pathLst>
              <a:path h="602200" w="602200">
                <a:moveTo>
                  <a:pt x="0" y="0"/>
                </a:moveTo>
                <a:lnTo>
                  <a:pt x="602200" y="0"/>
                </a:lnTo>
                <a:lnTo>
                  <a:pt x="602200" y="602201"/>
                </a:lnTo>
                <a:lnTo>
                  <a:pt x="0" y="6022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16335" y="7973185"/>
            <a:ext cx="562504" cy="562504"/>
          </a:xfrm>
          <a:custGeom>
            <a:avLst/>
            <a:gdLst/>
            <a:ahLst/>
            <a:cxnLst/>
            <a:rect r="r" b="b" t="t" l="l"/>
            <a:pathLst>
              <a:path h="562504" w="562504">
                <a:moveTo>
                  <a:pt x="0" y="0"/>
                </a:moveTo>
                <a:lnTo>
                  <a:pt x="562504" y="0"/>
                </a:lnTo>
                <a:lnTo>
                  <a:pt x="562504" y="562504"/>
                </a:lnTo>
                <a:lnTo>
                  <a:pt x="0" y="5625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97285" y="8597049"/>
            <a:ext cx="581554" cy="570906"/>
          </a:xfrm>
          <a:custGeom>
            <a:avLst/>
            <a:gdLst/>
            <a:ahLst/>
            <a:cxnLst/>
            <a:rect r="r" b="b" t="t" l="l"/>
            <a:pathLst>
              <a:path h="570906" w="581554">
                <a:moveTo>
                  <a:pt x="0" y="0"/>
                </a:moveTo>
                <a:lnTo>
                  <a:pt x="581554" y="0"/>
                </a:lnTo>
                <a:lnTo>
                  <a:pt x="581554" y="570906"/>
                </a:lnTo>
                <a:lnTo>
                  <a:pt x="0" y="57090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122758" t="-48010" r="-118126" b="-47313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037" y="9225105"/>
            <a:ext cx="669803" cy="669803"/>
          </a:xfrm>
          <a:custGeom>
            <a:avLst/>
            <a:gdLst/>
            <a:ahLst/>
            <a:cxnLst/>
            <a:rect r="r" b="b" t="t" l="l"/>
            <a:pathLst>
              <a:path h="669803" w="669803">
                <a:moveTo>
                  <a:pt x="0" y="0"/>
                </a:moveTo>
                <a:lnTo>
                  <a:pt x="669802" y="0"/>
                </a:lnTo>
                <a:lnTo>
                  <a:pt x="669802" y="669803"/>
                </a:lnTo>
                <a:lnTo>
                  <a:pt x="0" y="66980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250703" y="9857189"/>
            <a:ext cx="1898637" cy="46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NeoHack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78839" y="6422262"/>
            <a:ext cx="14042454" cy="329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Customers: </a:t>
            </a:r>
            <a:r>
              <a:rPr lang="en-US" sz="20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Special schools, government disability boards, NGOs, and Parents. </a:t>
            </a:r>
          </a:p>
          <a:p>
            <a:pPr algn="l">
              <a:lnSpc>
                <a:spcPts val="5124"/>
              </a:lnSpc>
            </a:pP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Value Proposition: </a:t>
            </a:r>
            <a:r>
              <a:rPr lang="en-US" sz="20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ISL-to-text with support for regional languages to promote </a:t>
            </a:r>
            <a:r>
              <a:rPr lang="en-US" sz="20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inclusivity.</a:t>
            </a:r>
          </a:p>
          <a:p>
            <a:pPr algn="l">
              <a:lnSpc>
                <a:spcPts val="1024"/>
              </a:lnSpc>
            </a:pPr>
          </a:p>
          <a:p>
            <a:pPr algn="l">
              <a:lnSpc>
                <a:spcPts val="5124"/>
              </a:lnSpc>
            </a:pP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Unique Selling Point (USP): </a:t>
            </a:r>
            <a:r>
              <a:rPr lang="en-US" sz="20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Two-hand sign detection and an API for third-party integration. </a:t>
            </a:r>
          </a:p>
          <a:p>
            <a:pPr algn="l">
              <a:lnSpc>
                <a:spcPts val="5124"/>
              </a:lnSpc>
            </a:pP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Streams: </a:t>
            </a:r>
            <a:r>
              <a:rPr lang="en-US" sz="20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Freemium model, institutional plans, API licensing, and CSR or government </a:t>
            </a:r>
            <a:r>
              <a:rPr lang="en-US" sz="20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grants.</a:t>
            </a:r>
          </a:p>
          <a:p>
            <a:pPr algn="l">
              <a:lnSpc>
                <a:spcPts val="5124"/>
              </a:lnSpc>
            </a:pP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Channels: </a:t>
            </a:r>
            <a:r>
              <a:rPr lang="en-US" sz="20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 stores, NGO or government partnerships, direct sales, and an online API portal.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50703" y="5939935"/>
            <a:ext cx="3294288" cy="56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 u="sng">
                <a:solidFill>
                  <a:srgbClr val="1986C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Model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434046" y="422274"/>
            <a:ext cx="2748796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BENEFITS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957678" y="368471"/>
            <a:ext cx="2446734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IMPACTS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4524787" y="9927280"/>
            <a:ext cx="2848813" cy="365640"/>
            <a:chOff x="0" y="0"/>
            <a:chExt cx="5689600" cy="7302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6717796" y="28764"/>
            <a:ext cx="1570204" cy="1062380"/>
            <a:chOff x="0" y="0"/>
            <a:chExt cx="2884858" cy="1951858"/>
          </a:xfrm>
        </p:grpSpPr>
        <p:sp>
          <p:nvSpPr>
            <p:cNvPr name="Freeform 61" id="61" descr="C:\Users\user\Downloads\WhatsApp Image 2025-09-25 at 09.00.18_33ed60e3.png"/>
            <p:cNvSpPr/>
            <p:nvPr/>
          </p:nvSpPr>
          <p:spPr>
            <a:xfrm flipH="false" flipV="false" rot="0">
              <a:off x="0" y="0"/>
              <a:ext cx="2884805" cy="1951822"/>
            </a:xfrm>
            <a:custGeom>
              <a:avLst/>
              <a:gdLst/>
              <a:ahLst/>
              <a:cxnLst/>
              <a:rect r="r" b="b" t="t" l="l"/>
              <a:pathLst>
                <a:path h="1951822" w="2884805">
                  <a:moveTo>
                    <a:pt x="0" y="0"/>
                  </a:moveTo>
                  <a:lnTo>
                    <a:pt x="2884805" y="0"/>
                  </a:lnTo>
                  <a:lnTo>
                    <a:pt x="2884805" y="1951822"/>
                  </a:lnTo>
                  <a:lnTo>
                    <a:pt x="0" y="1951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23900" r="-1" b="-23903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6040" y="83313"/>
            <a:ext cx="2846335" cy="476640"/>
            <a:chOff x="0" y="0"/>
            <a:chExt cx="6084270" cy="1018857"/>
          </a:xfrm>
        </p:grpSpPr>
        <p:sp>
          <p:nvSpPr>
            <p:cNvPr name="Freeform 63" id="63" descr="C:\Users\user\Downloads\WhatsApp Image 2025-09-25 at 09.00.17_f153e206.png"/>
            <p:cNvSpPr/>
            <p:nvPr/>
          </p:nvSpPr>
          <p:spPr>
            <a:xfrm flipH="false" flipV="false" rot="0">
              <a:off x="0" y="0"/>
              <a:ext cx="6084316" cy="1018903"/>
            </a:xfrm>
            <a:custGeom>
              <a:avLst/>
              <a:gdLst/>
              <a:ahLst/>
              <a:cxnLst/>
              <a:rect r="r" b="b" t="t" l="l"/>
              <a:pathLst>
                <a:path h="1018903" w="6084316">
                  <a:moveTo>
                    <a:pt x="0" y="0"/>
                  </a:moveTo>
                  <a:lnTo>
                    <a:pt x="6084316" y="0"/>
                  </a:lnTo>
                  <a:lnTo>
                    <a:pt x="6084316" y="1018903"/>
                  </a:lnTo>
                  <a:lnTo>
                    <a:pt x="0" y="1018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248576" r="0" b="-248571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356478" y="-61756"/>
            <a:ext cx="820994" cy="1199847"/>
            <a:chOff x="0" y="0"/>
            <a:chExt cx="1410132" cy="2060846"/>
          </a:xfrm>
        </p:grpSpPr>
        <p:sp>
          <p:nvSpPr>
            <p:cNvPr name="Freeform 65" id="65" descr="C:\Users\user\Downloads\images (1) (1).png"/>
            <p:cNvSpPr/>
            <p:nvPr/>
          </p:nvSpPr>
          <p:spPr>
            <a:xfrm flipH="false" flipV="false" rot="0">
              <a:off x="0" y="0"/>
              <a:ext cx="1410081" cy="2060895"/>
            </a:xfrm>
            <a:custGeom>
              <a:avLst/>
              <a:gdLst/>
              <a:ahLst/>
              <a:cxnLst/>
              <a:rect r="r" b="b" t="t" l="l"/>
              <a:pathLst>
                <a:path h="2060895" w="1410081">
                  <a:moveTo>
                    <a:pt x="0" y="0"/>
                  </a:moveTo>
                  <a:lnTo>
                    <a:pt x="1410081" y="0"/>
                  </a:lnTo>
                  <a:lnTo>
                    <a:pt x="1410081" y="2060895"/>
                  </a:lnTo>
                  <a:lnTo>
                    <a:pt x="0" y="2060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7553" r="-3" b="-755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06400" y="9228340"/>
            <a:ext cx="4267200" cy="547688"/>
            <a:chOff x="0" y="0"/>
            <a:chExt cx="56896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00850" y="9285490"/>
            <a:ext cx="4806000" cy="547688"/>
            <a:chOff x="0" y="0"/>
            <a:chExt cx="64080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VIDYUT-SHRISTHI’25-idea submission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15607" y="9314953"/>
            <a:ext cx="1898637" cy="51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786182" y="1583964"/>
            <a:ext cx="2568368" cy="3355350"/>
          </a:xfrm>
          <a:custGeom>
            <a:avLst/>
            <a:gdLst/>
            <a:ahLst/>
            <a:cxnLst/>
            <a:rect r="r" b="b" t="t" l="l"/>
            <a:pathLst>
              <a:path h="3355350" w="2568368">
                <a:moveTo>
                  <a:pt x="0" y="0"/>
                </a:moveTo>
                <a:lnTo>
                  <a:pt x="2568368" y="0"/>
                </a:lnTo>
                <a:lnTo>
                  <a:pt x="2568368" y="3355350"/>
                </a:lnTo>
                <a:lnTo>
                  <a:pt x="0" y="335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3746" y="6131849"/>
            <a:ext cx="2509724" cy="3240254"/>
          </a:xfrm>
          <a:custGeom>
            <a:avLst/>
            <a:gdLst/>
            <a:ahLst/>
            <a:cxnLst/>
            <a:rect r="r" b="b" t="t" l="l"/>
            <a:pathLst>
              <a:path h="3240254" w="2509724">
                <a:moveTo>
                  <a:pt x="0" y="0"/>
                </a:moveTo>
                <a:lnTo>
                  <a:pt x="2509724" y="0"/>
                </a:lnTo>
                <a:lnTo>
                  <a:pt x="2509724" y="3240254"/>
                </a:lnTo>
                <a:lnTo>
                  <a:pt x="0" y="324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34051" y="1491245"/>
            <a:ext cx="2949001" cy="2230517"/>
          </a:xfrm>
          <a:custGeom>
            <a:avLst/>
            <a:gdLst/>
            <a:ahLst/>
            <a:cxnLst/>
            <a:rect r="r" b="b" t="t" l="l"/>
            <a:pathLst>
              <a:path h="2230517" w="2949001">
                <a:moveTo>
                  <a:pt x="0" y="0"/>
                </a:moveTo>
                <a:lnTo>
                  <a:pt x="2949001" y="0"/>
                </a:lnTo>
                <a:lnTo>
                  <a:pt x="2949001" y="2230517"/>
                </a:lnTo>
                <a:lnTo>
                  <a:pt x="0" y="22305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5707807" y="3502687"/>
            <a:ext cx="1366390" cy="19050"/>
            <a:chOff x="0" y="0"/>
            <a:chExt cx="1366393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6393" cy="19050"/>
            </a:xfrm>
            <a:custGeom>
              <a:avLst/>
              <a:gdLst/>
              <a:ahLst/>
              <a:cxnLst/>
              <a:rect r="r" b="b" t="t" l="l"/>
              <a:pathLst>
                <a:path h="19050" w="1366393">
                  <a:moveTo>
                    <a:pt x="0" y="0"/>
                  </a:moveTo>
                  <a:lnTo>
                    <a:pt x="1366393" y="0"/>
                  </a:lnTo>
                  <a:lnTo>
                    <a:pt x="13663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671FF4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025508" y="5115928"/>
            <a:ext cx="1365494" cy="19050"/>
            <a:chOff x="0" y="0"/>
            <a:chExt cx="1365504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65504" cy="19050"/>
            </a:xfrm>
            <a:custGeom>
              <a:avLst/>
              <a:gdLst/>
              <a:ahLst/>
              <a:cxnLst/>
              <a:rect r="r" b="b" t="t" l="l"/>
              <a:pathLst>
                <a:path h="19050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5E17EB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3174162" y="5893760"/>
            <a:ext cx="76200" cy="76200"/>
            <a:chOff x="0" y="0"/>
            <a:chExt cx="76200" cy="76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3186764" y="6992307"/>
            <a:ext cx="76200" cy="76200"/>
            <a:chOff x="0" y="0"/>
            <a:chExt cx="76200" cy="7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4186232" y="7074851"/>
            <a:ext cx="1425921" cy="19050"/>
            <a:chOff x="0" y="0"/>
            <a:chExt cx="1425918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5956" cy="19050"/>
            </a:xfrm>
            <a:custGeom>
              <a:avLst/>
              <a:gdLst/>
              <a:ahLst/>
              <a:cxnLst/>
              <a:rect r="r" b="b" t="t" l="l"/>
              <a:pathLst>
                <a:path h="19050" w="1425956">
                  <a:moveTo>
                    <a:pt x="0" y="0"/>
                  </a:moveTo>
                  <a:lnTo>
                    <a:pt x="0" y="19050"/>
                  </a:lnTo>
                  <a:lnTo>
                    <a:pt x="221488" y="19050"/>
                  </a:lnTo>
                  <a:lnTo>
                    <a:pt x="221488" y="0"/>
                  </a:lnTo>
                  <a:close/>
                  <a:moveTo>
                    <a:pt x="288036" y="0"/>
                  </a:moveTo>
                  <a:lnTo>
                    <a:pt x="288036" y="19050"/>
                  </a:lnTo>
                  <a:lnTo>
                    <a:pt x="1425956" y="19050"/>
                  </a:lnTo>
                  <a:lnTo>
                    <a:pt x="1425956" y="0"/>
                  </a:lnTo>
                  <a:close/>
                </a:path>
              </a:pathLst>
            </a:custGeom>
            <a:solidFill>
              <a:srgbClr val="5E17EB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186232" y="6826515"/>
            <a:ext cx="1454287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E17EB"/>
                </a:solidFill>
                <a:latin typeface="Poppins"/>
                <a:ea typeface="Poppins"/>
                <a:cs typeface="Poppins"/>
                <a:sym typeface="Poppins"/>
                <a:hlinkClick r:id="rId8" tooltip="https://www.kaggle.com/datasets/datamunge/sign-language-mnist"/>
              </a:rPr>
              <a:t>Explore 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69370" y="6834364"/>
            <a:ext cx="646005" cy="32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Link :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69370" y="5799975"/>
            <a:ext cx="11898544" cy="92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ISL-CSLTR: Indian Sign Language Dataset: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ISL-CSLTR dataset contains </a:t>
            </a: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700 annotated videos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with </a:t>
            </a: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18,863 sentence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frames and </a:t>
            </a: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1,036 word images for 100 sentences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signed by 7 individuals. It supports </a:t>
            </a: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deep learning-based sentence-level recognition and translation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Indian Sign Language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396490" y="6477512"/>
            <a:ext cx="2804396" cy="3388999"/>
          </a:xfrm>
          <a:custGeom>
            <a:avLst/>
            <a:gdLst/>
            <a:ahLst/>
            <a:cxnLst/>
            <a:rect r="r" b="b" t="t" l="l"/>
            <a:pathLst>
              <a:path h="3388999" w="2804396">
                <a:moveTo>
                  <a:pt x="0" y="0"/>
                </a:moveTo>
                <a:lnTo>
                  <a:pt x="2804396" y="0"/>
                </a:lnTo>
                <a:lnTo>
                  <a:pt x="2804396" y="3388998"/>
                </a:lnTo>
                <a:lnTo>
                  <a:pt x="0" y="33889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943333" y="4223459"/>
            <a:ext cx="12233272" cy="92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462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Deep Learning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offers high-accuracy recognition of </a:t>
            </a: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static and dynamic sign gestures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by extracting </a:t>
            </a: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MediaPipe landmarks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modeling temporal sequences ().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Link to Article: </a:t>
            </a:r>
            <a:r>
              <a:rPr lang="en-US" sz="1800">
                <a:solidFill>
                  <a:srgbClr val="5E17EB"/>
                </a:solidFill>
                <a:latin typeface="Poppins"/>
                <a:ea typeface="Poppins"/>
                <a:cs typeface="Poppins"/>
                <a:sym typeface="Poppins"/>
                <a:hlinkClick r:id="rId10" tooltip="https://pmc.ncbi.nlm.nih.gov/articles/PMC11217171/"/>
              </a:rPr>
              <a:t>Read Article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25413" y="3855159"/>
            <a:ext cx="99399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387EB8"/>
                </a:solidFill>
                <a:latin typeface="Poppins Bold"/>
                <a:ea typeface="Poppins Bold"/>
                <a:cs typeface="Poppins Bold"/>
                <a:sym typeface="Poppins Bold"/>
              </a:rPr>
              <a:t>2.Machine Learning Techniques for Learning App for Deaf And Mute 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33020" y="7884864"/>
            <a:ext cx="12334895" cy="195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101" indent="-205050" lvl="1">
              <a:lnSpc>
                <a:spcPts val="2598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Machine Learning &amp; Model Development :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used TensorFlow, Keras, and scikit-learn to build, train, and optimize our AI models.</a:t>
            </a:r>
          </a:p>
          <a:p>
            <a:pPr algn="l" marL="410101" indent="-205050" lvl="1">
              <a:lnSpc>
                <a:spcPts val="2598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Computer Vision &amp; Gesture Recognition :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used MediaPipe and OpenCV for real-time gesture tracking. We also used NumPy and Pandas for data handling and preprocessing. </a:t>
            </a:r>
          </a:p>
          <a:p>
            <a:pPr algn="l" marL="410101" indent="-205050" lvl="1">
              <a:lnSpc>
                <a:spcPts val="2598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&amp; Deployment 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:We built the backend with FastAPI to create a fast and scalable API that connects the mobile app and AI models.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969934" y="2982822"/>
            <a:ext cx="46672" cy="288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b="true" sz="1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66986" y="1679269"/>
            <a:ext cx="50873" cy="55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1"/>
              </a:lnSpc>
            </a:pPr>
            <a:r>
              <a:rPr lang="en-US" b="true" sz="195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707807" y="3243588"/>
            <a:ext cx="1592347" cy="28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1"/>
              </a:lnSpc>
            </a:pPr>
            <a:r>
              <a:rPr lang="en-US" sz="1899">
                <a:solidFill>
                  <a:srgbClr val="671FF4"/>
                </a:solidFill>
                <a:latin typeface="Poppins"/>
                <a:ea typeface="Poppins"/>
                <a:cs typeface="Poppins"/>
                <a:sym typeface="Poppins"/>
              </a:rPr>
              <a:t>Read Article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02160" y="1816102"/>
            <a:ext cx="766283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387EB8"/>
                </a:solidFill>
                <a:latin typeface="Poppins Bold"/>
                <a:ea typeface="Poppins Bold"/>
                <a:cs typeface="Poppins Bold"/>
                <a:sym typeface="Poppins Bold"/>
              </a:rPr>
              <a:t>1. Research Articles on LearningAppforDeafAndMute: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407758" y="2347533"/>
            <a:ext cx="11726561" cy="92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512" indent="-194256" lvl="1">
              <a:lnSpc>
                <a:spcPts val="2461"/>
              </a:lnSpc>
              <a:buFont typeface="Arial"/>
              <a:buChar char="•"/>
            </a:pP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Description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:The proposed comprehensive </a:t>
            </a: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Mobile Application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aims to address the key challenges faced in </a:t>
            </a: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learning beyond classroom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by deaf and mute students.The key features of the application include: </a:t>
            </a: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Interpretationof Alphabets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numbers in </a:t>
            </a: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Gujarati and English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22265" y="3195963"/>
            <a:ext cx="2247443" cy="34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048" indent="-205024" lvl="1">
              <a:lnSpc>
                <a:spcPts val="2658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Link</a:t>
            </a: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</a:t>
            </a: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Article: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25413" y="5429172"/>
            <a:ext cx="376559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387EB8"/>
                </a:solidFill>
                <a:latin typeface="Poppins Bold"/>
                <a:ea typeface="Poppins Bold"/>
                <a:cs typeface="Poppins Bold"/>
                <a:sym typeface="Poppins Bold"/>
              </a:rPr>
              <a:t>3.Data Sources and Tools: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702160" y="7407972"/>
            <a:ext cx="165325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387EB8"/>
                </a:solidFill>
                <a:latin typeface="Poppins Bold"/>
                <a:ea typeface="Poppins Bold"/>
                <a:cs typeface="Poppins Bold"/>
                <a:sym typeface="Poppins Bold"/>
              </a:rPr>
              <a:t>4.Tools: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487414" y="1352550"/>
            <a:ext cx="6762080" cy="32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b="true" sz="3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 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6717796" y="28764"/>
            <a:ext cx="1570204" cy="1062380"/>
            <a:chOff x="0" y="0"/>
            <a:chExt cx="2884858" cy="1951858"/>
          </a:xfrm>
        </p:grpSpPr>
        <p:sp>
          <p:nvSpPr>
            <p:cNvPr name="Freeform 39" id="39" descr="C:\Users\user\Downloads\WhatsApp Image 2025-09-25 at 09.00.18_33ed60e3.png"/>
            <p:cNvSpPr/>
            <p:nvPr/>
          </p:nvSpPr>
          <p:spPr>
            <a:xfrm flipH="false" flipV="false" rot="0">
              <a:off x="0" y="0"/>
              <a:ext cx="2884805" cy="1951822"/>
            </a:xfrm>
            <a:custGeom>
              <a:avLst/>
              <a:gdLst/>
              <a:ahLst/>
              <a:cxnLst/>
              <a:rect r="r" b="b" t="t" l="l"/>
              <a:pathLst>
                <a:path h="1951822" w="2884805">
                  <a:moveTo>
                    <a:pt x="0" y="0"/>
                  </a:moveTo>
                  <a:lnTo>
                    <a:pt x="2884805" y="0"/>
                  </a:lnTo>
                  <a:lnTo>
                    <a:pt x="2884805" y="1951822"/>
                  </a:lnTo>
                  <a:lnTo>
                    <a:pt x="0" y="1951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3900" r="-1" b="-23903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6040" y="83313"/>
            <a:ext cx="2846335" cy="476640"/>
            <a:chOff x="0" y="0"/>
            <a:chExt cx="6084270" cy="1018857"/>
          </a:xfrm>
        </p:grpSpPr>
        <p:sp>
          <p:nvSpPr>
            <p:cNvPr name="Freeform 41" id="41" descr="C:\Users\user\Downloads\WhatsApp Image 2025-09-25 at 09.00.17_f153e206.png"/>
            <p:cNvSpPr/>
            <p:nvPr/>
          </p:nvSpPr>
          <p:spPr>
            <a:xfrm flipH="false" flipV="false" rot="0">
              <a:off x="0" y="0"/>
              <a:ext cx="6084316" cy="1018903"/>
            </a:xfrm>
            <a:custGeom>
              <a:avLst/>
              <a:gdLst/>
              <a:ahLst/>
              <a:cxnLst/>
              <a:rect r="r" b="b" t="t" l="l"/>
              <a:pathLst>
                <a:path h="1018903" w="6084316">
                  <a:moveTo>
                    <a:pt x="0" y="0"/>
                  </a:moveTo>
                  <a:lnTo>
                    <a:pt x="6084316" y="0"/>
                  </a:lnTo>
                  <a:lnTo>
                    <a:pt x="6084316" y="1018903"/>
                  </a:lnTo>
                  <a:lnTo>
                    <a:pt x="0" y="1018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48576" r="0" b="-248571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356478" y="-61756"/>
            <a:ext cx="820994" cy="1199847"/>
            <a:chOff x="0" y="0"/>
            <a:chExt cx="1410132" cy="2060846"/>
          </a:xfrm>
        </p:grpSpPr>
        <p:sp>
          <p:nvSpPr>
            <p:cNvPr name="Freeform 43" id="43" descr="C:\Users\user\Downloads\images (1) (1).png"/>
            <p:cNvSpPr/>
            <p:nvPr/>
          </p:nvSpPr>
          <p:spPr>
            <a:xfrm flipH="false" flipV="false" rot="0">
              <a:off x="0" y="0"/>
              <a:ext cx="1410081" cy="2060895"/>
            </a:xfrm>
            <a:custGeom>
              <a:avLst/>
              <a:gdLst/>
              <a:ahLst/>
              <a:cxnLst/>
              <a:rect r="r" b="b" t="t" l="l"/>
              <a:pathLst>
                <a:path h="2060895" w="1410081">
                  <a:moveTo>
                    <a:pt x="0" y="0"/>
                  </a:moveTo>
                  <a:lnTo>
                    <a:pt x="1410081" y="0"/>
                  </a:lnTo>
                  <a:lnTo>
                    <a:pt x="1410081" y="2060895"/>
                  </a:lnTo>
                  <a:lnTo>
                    <a:pt x="0" y="2060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7553" r="-3" b="-7551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0" y="9941212"/>
            <a:ext cx="18287998" cy="589657"/>
            <a:chOff x="0" y="0"/>
            <a:chExt cx="24383998" cy="78621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0" cy="786209"/>
            </a:xfrm>
            <a:custGeom>
              <a:avLst/>
              <a:gdLst/>
              <a:ahLst/>
              <a:cxnLst/>
              <a:rect r="r" b="b" t="t" l="l"/>
              <a:pathLst>
                <a:path h="7862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6209"/>
                  </a:lnTo>
                  <a:lnTo>
                    <a:pt x="0" y="786209"/>
                  </a:lnTo>
                  <a:close/>
                </a:path>
              </a:pathLst>
            </a:custGeom>
            <a:solidFill>
              <a:srgbClr val="E46C0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740999" y="9856808"/>
            <a:ext cx="4806000" cy="547688"/>
            <a:chOff x="0" y="0"/>
            <a:chExt cx="6408000" cy="7302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VIDYUT-SHRISTHI’25-idea submission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534312" y="9927280"/>
            <a:ext cx="2848813" cy="365640"/>
            <a:chOff x="0" y="0"/>
            <a:chExt cx="5689600" cy="7302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515607" y="9826912"/>
            <a:ext cx="1898637" cy="46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NeoHack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DAG1eHPVM5g</dc:identifier>
  <dcterms:modified xsi:type="dcterms:W3CDTF">2011-08-01T06:04:30Z</dcterms:modified>
  <cp:revision>1</cp:revision>
  <dc:title>204_SRISHTI_Vidyut_25</dc:title>
</cp:coreProperties>
</file>